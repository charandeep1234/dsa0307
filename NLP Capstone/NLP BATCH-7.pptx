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63" r:id="rId2"/>
    <p:sldId id="318" r:id="rId3"/>
    <p:sldId id="256" r:id="rId4"/>
    <p:sldId id="319" r:id="rId5"/>
    <p:sldId id="269" r:id="rId6"/>
    <p:sldId id="308" r:id="rId7"/>
    <p:sldId id="257" r:id="rId8"/>
    <p:sldId id="307" r:id="rId9"/>
    <p:sldId id="258" r:id="rId10"/>
    <p:sldId id="306" r:id="rId11"/>
    <p:sldId id="265" r:id="rId12"/>
    <p:sldId id="311" r:id="rId13"/>
    <p:sldId id="270" r:id="rId14"/>
    <p:sldId id="312" r:id="rId15"/>
    <p:sldId id="271" r:id="rId16"/>
    <p:sldId id="315" r:id="rId17"/>
    <p:sldId id="272" r:id="rId18"/>
    <p:sldId id="313" r:id="rId19"/>
    <p:sldId id="266" r:id="rId20"/>
    <p:sldId id="316" r:id="rId21"/>
    <p:sldId id="317" r:id="rId22"/>
    <p:sldId id="264" r:id="rId23"/>
    <p:sldId id="309" r:id="rId24"/>
    <p:sldId id="310"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11987-4AFA-47DC-AF47-613490990EEB}"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9FE4E-271E-4436-8D83-DDD1C669F33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79FE4E-271E-4436-8D83-DDD1C669F338}"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7D0E22E-AAE8-4C38-8DAC-6426CE74D81A}"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7D0E22E-AAE8-4C38-8DAC-6426CE74D81A}" type="datetimeFigureOut">
              <a:rPr lang="en-IN" smtClean="0"/>
              <a:t>25-08-2026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7D0E22E-AAE8-4C38-8DAC-6426CE74D81A}" type="datetimeFigureOut">
              <a:rPr lang="en-IN" smtClean="0"/>
              <a:t>25-08-2026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D0E22E-AAE8-4C38-8DAC-6426CE74D81A}" type="datetimeFigureOut">
              <a:rPr lang="en-IN" smtClean="0"/>
              <a:t>25-08-2026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D0E22E-AAE8-4C38-8DAC-6426CE74D81A}"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D0E22E-AAE8-4C38-8DAC-6426CE74D81A}"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D0E22E-AAE8-4C38-8DAC-6426CE74D81A}"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0C266F-A621-4C49-8E05-8A2E37F9125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D0E22E-AAE8-4C38-8DAC-6426CE74D81A}" type="datetimeFigureOut">
              <a:rPr lang="en-IN" smtClean="0"/>
              <a:t>25-08-2026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0C266F-A621-4C49-8E05-8A2E37F9125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p:cNvPicPr/>
          <p:nvPr/>
        </p:nvPicPr>
        <p:blipFill>
          <a:blip r:embed="rId3" cstate="print">
            <a:extLst>
              <a:ext uri="{28A0092B-C50C-407E-A947-70E740481C1C}">
                <a14:useLocalDpi xmlns:a14="http://schemas.microsoft.com/office/drawing/2010/main" val="0"/>
              </a:ext>
            </a:extLst>
          </a:blip>
          <a:stretch>
            <a:fillRect/>
          </a:stretch>
        </p:blipFill>
        <p:spPr>
          <a:xfrm>
            <a:off x="827314" y="422202"/>
            <a:ext cx="10700658" cy="1069141"/>
          </a:xfrm>
          <a:prstGeom prst="rect">
            <a:avLst/>
          </a:prstGeom>
        </p:spPr>
      </p:pic>
      <p:sp>
        <p:nvSpPr>
          <p:cNvPr id="5" name="TextBox 4"/>
          <p:cNvSpPr txBox="1"/>
          <p:nvPr/>
        </p:nvSpPr>
        <p:spPr>
          <a:xfrm>
            <a:off x="3400763" y="3352249"/>
            <a:ext cx="70104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DSA0307- NATURAL LANGUAGE PROCESSING</a:t>
            </a:r>
            <a:endParaRPr lang="en-IN"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71055" y="4582886"/>
            <a:ext cx="4498273" cy="224676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PRESENTED BY:</a:t>
            </a:r>
          </a:p>
          <a:p>
            <a:r>
              <a:rPr lang="en-US" sz="2000" dirty="0" err="1">
                <a:latin typeface="Times New Roman" panose="02020603050405020304" pitchFamily="18" charset="0"/>
                <a:cs typeface="Times New Roman" panose="02020603050405020304" pitchFamily="18" charset="0"/>
              </a:rPr>
              <a:t>Charandeep.N.C</a:t>
            </a:r>
            <a:r>
              <a:rPr lang="en-US" sz="2000" dirty="0">
                <a:latin typeface="Times New Roman" panose="02020603050405020304" pitchFamily="18" charset="0"/>
                <a:cs typeface="Times New Roman" panose="02020603050405020304" pitchFamily="18" charset="0"/>
              </a:rPr>
              <a:t>(192472196)</a:t>
            </a:r>
          </a:p>
          <a:p>
            <a:r>
              <a:rPr lang="en-US" sz="2000" dirty="0" err="1">
                <a:latin typeface="Times New Roman" panose="02020603050405020304" pitchFamily="18" charset="0"/>
                <a:cs typeface="Times New Roman" panose="02020603050405020304" pitchFamily="18" charset="0"/>
              </a:rPr>
              <a:t>A.Sai</a:t>
            </a:r>
            <a:r>
              <a:rPr lang="en-US" sz="2000" dirty="0">
                <a:latin typeface="Times New Roman" panose="02020603050405020304" pitchFamily="18" charset="0"/>
                <a:cs typeface="Times New Roman" panose="02020603050405020304" pitchFamily="18" charset="0"/>
              </a:rPr>
              <a:t> Rohit (192472144)</a:t>
            </a:r>
          </a:p>
          <a:p>
            <a:r>
              <a:rPr lang="en-US" sz="2000" dirty="0">
                <a:latin typeface="Times New Roman" panose="02020603050405020304" pitchFamily="18" charset="0"/>
                <a:cs typeface="Times New Roman" panose="02020603050405020304" pitchFamily="18" charset="0"/>
              </a:rPr>
              <a:t>D. Sri Anjaneya(192425219)</a:t>
            </a:r>
          </a:p>
          <a:p>
            <a:r>
              <a:rPr lang="en-US" sz="2000" dirty="0">
                <a:latin typeface="Times New Roman" panose="02020603050405020304" pitchFamily="18" charset="0"/>
                <a:cs typeface="Times New Roman" panose="02020603050405020304" pitchFamily="18" charset="0"/>
              </a:rPr>
              <a:t>L. Sanjay Kumar</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(192425226)</a:t>
            </a:r>
          </a:p>
          <a:p>
            <a:r>
              <a:rPr lang="en-US" sz="2000" dirty="0" err="1">
                <a:latin typeface="Times New Roman" panose="02020603050405020304" pitchFamily="18" charset="0"/>
                <a:cs typeface="Times New Roman" panose="02020603050405020304" pitchFamily="18" charset="0"/>
              </a:rPr>
              <a:t>K.Mounith</a:t>
            </a:r>
            <a:r>
              <a:rPr lang="en-US" sz="2000" dirty="0">
                <a:latin typeface="Times New Roman" panose="02020603050405020304" pitchFamily="18" charset="0"/>
                <a:cs typeface="Times New Roman" panose="02020603050405020304" pitchFamily="18" charset="0"/>
              </a:rPr>
              <a:t>(192425090)</a:t>
            </a:r>
          </a:p>
          <a:p>
            <a:r>
              <a:rPr lang="en-US" altLang="en-IN" sz="2000" dirty="0">
                <a:latin typeface="Times New Roman" panose="02020603050405020304" pitchFamily="18" charset="0"/>
                <a:cs typeface="Times New Roman" panose="02020603050405020304" pitchFamily="18" charset="0"/>
              </a:rPr>
              <a:t>   </a:t>
            </a:r>
          </a:p>
        </p:txBody>
      </p:sp>
      <p:sp>
        <p:nvSpPr>
          <p:cNvPr id="7" name="TextBox 6"/>
          <p:cNvSpPr txBox="1"/>
          <p:nvPr/>
        </p:nvSpPr>
        <p:spPr>
          <a:xfrm>
            <a:off x="8556170" y="4582886"/>
            <a:ext cx="2177143"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GUDIED BY:</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Dr.K.Anbazhagan</a:t>
            </a:r>
            <a:endParaRPr lang="en-IN" sz="2000"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827405" y="2244725"/>
            <a:ext cx="10778490" cy="1077218"/>
          </a:xfrm>
          <a:prstGeom prst="rect">
            <a:avLst/>
          </a:prstGeom>
        </p:spPr>
        <p:txBody>
          <a:bodyPr wrap="square">
            <a:spAutoFit/>
          </a:bodyPr>
          <a:lstStyle/>
          <a:p>
            <a:pPr marL="0" indent="0" algn="ctr"/>
            <a:r>
              <a:rPr lang="en-US" sz="3200" b="1" dirty="0">
                <a:latin typeface="Times New Roman" panose="02020603050405020304" pitchFamily="18" charset="0"/>
                <a:cs typeface="Times New Roman" panose="02020603050405020304" pitchFamily="18" charset="0"/>
              </a:rPr>
              <a:t>NLP-Driven Resume Screening and Intelligent Job Recommendation System</a:t>
            </a:r>
            <a:endParaRPr sz="3200" b="1" i="0" dirty="0">
              <a:solidFill>
                <a:schemeClr val="tx1"/>
              </a:solidFill>
              <a:latin typeface="Times New Roman" panose="02020603050405020304" pitchFamily="18" charset="0"/>
              <a:ea typeface="-apple-system-body"/>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7063" y="286340"/>
            <a:ext cx="9144000" cy="797877"/>
          </a:xfrm>
        </p:spPr>
        <p:txBody>
          <a:bodyPr>
            <a:normAutofit/>
          </a:bodyPr>
          <a:lstStyle/>
          <a:p>
            <a:r>
              <a:rPr lang="en-US" sz="3200" b="1" dirty="0">
                <a:latin typeface="Times New Roman" pitchFamily="18" charset="0"/>
                <a:cs typeface="Times New Roman" pitchFamily="18" charset="0"/>
              </a:rPr>
              <a:t>OVERVIEW</a:t>
            </a:r>
          </a:p>
        </p:txBody>
      </p:sp>
      <p:sp>
        <p:nvSpPr>
          <p:cNvPr id="3" name="Subtitle 2"/>
          <p:cNvSpPr>
            <a:spLocks noGrp="1"/>
          </p:cNvSpPr>
          <p:nvPr>
            <p:ph type="subTitle" idx="1"/>
          </p:nvPr>
        </p:nvSpPr>
        <p:spPr>
          <a:xfrm>
            <a:off x="946571" y="1575459"/>
            <a:ext cx="9864436" cy="4963886"/>
          </a:xfrm>
        </p:spPr>
        <p:txBody>
          <a:bodyPr>
            <a:noAutofit/>
          </a:bodyPr>
          <a:lstStyle/>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ABSTRACT</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INTRODUCTION</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LITERATURE SURVEY</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EXISTING SYSTEM</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PROBLEM IDENTIFICATION</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PROPOSED SYSTEM</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OBJECTIVE</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ARCHITECTURE DIAGRAM</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BRIEF EXPLANATION OF MODULES</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IMPLEMENTATION SCREENSHOT </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RESULTS</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CONCLUSION &amp; FUTURE ENHANCEMENT</a:t>
            </a:r>
          </a:p>
          <a:p>
            <a:pPr marL="685800" indent="-685800" algn="l">
              <a:lnSpc>
                <a:spcPct val="100000"/>
              </a:lnSpc>
              <a:buFont typeface="Arial" panose="020B0604020202020204" pitchFamily="34" charset="0"/>
              <a:buChar char="•"/>
            </a:pPr>
            <a:r>
              <a:rPr lang="en-US" sz="1800" b="1" dirty="0">
                <a:latin typeface="Times New Roman" pitchFamily="18" charset="0"/>
                <a:cs typeface="Times New Roman" pitchFamily="18" charset="0"/>
              </a:rPr>
              <a:t>REFERENCES</a:t>
            </a:r>
          </a:p>
          <a:p>
            <a:pPr marL="342900" indent="-342900" algn="l">
              <a:lnSpc>
                <a:spcPct val="100000"/>
              </a:lnSpc>
              <a:buFont typeface="Arial" panose="020B0604020202020204" pitchFamily="34" charset="0"/>
              <a:buChar char="•"/>
            </a:pPr>
            <a:endParaRPr lang="en-US" sz="900" b="1" dirty="0"/>
          </a:p>
        </p:txBody>
      </p:sp>
      <p:pic>
        <p:nvPicPr>
          <p:cNvPr id="5" name="Picture 3">
            <a:extLst>
              <a:ext uri="{FF2B5EF4-FFF2-40B4-BE49-F238E27FC236}">
                <a16:creationId xmlns:a16="http://schemas.microsoft.com/office/drawing/2014/main" id="{E950B5C3-D9CA-D5EA-48E1-536F4E8B3E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733" y="301426"/>
            <a:ext cx="909638" cy="9001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1007" y="303625"/>
            <a:ext cx="712788"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p:nvPr/>
        </p:nvPicPr>
        <p:blipFill>
          <a:blip r:embed="rId2" cstate="print">
            <a:extLst>
              <a:ext uri="{28A0092B-C50C-407E-A947-70E740481C1C}">
                <a14:useLocalDpi xmlns:a14="http://schemas.microsoft.com/office/drawing/2010/main" val="0"/>
              </a:ext>
            </a:extLst>
          </a:blip>
          <a:srcRect/>
          <a:stretch>
            <a:fillRect/>
          </a:stretch>
        </p:blipFill>
        <p:spPr>
          <a:xfrm>
            <a:off x="428990" y="372722"/>
            <a:ext cx="1135117" cy="1342884"/>
          </a:xfrm>
          <a:prstGeom prst="rect">
            <a:avLst/>
          </a:prstGeom>
          <a:noFill/>
        </p:spPr>
      </p:pic>
      <p:pic>
        <p:nvPicPr>
          <p:cNvPr id="13" name="Picture 12"/>
          <p:cNvPicPr/>
          <p:nvPr/>
        </p:nvPicPr>
        <p:blipFill>
          <a:blip r:embed="rId3">
            <a:extLst>
              <a:ext uri="{28A0092B-C50C-407E-A947-70E740481C1C}">
                <a14:useLocalDpi xmlns:a14="http://schemas.microsoft.com/office/drawing/2010/main" val="0"/>
              </a:ext>
            </a:extLst>
          </a:blip>
          <a:srcRect/>
          <a:stretch>
            <a:fillRect/>
          </a:stretch>
        </p:blipFill>
        <p:spPr bwMode="auto">
          <a:xfrm>
            <a:off x="10276607" y="353408"/>
            <a:ext cx="1520114" cy="1342884"/>
          </a:xfrm>
          <a:prstGeom prst="rect">
            <a:avLst/>
          </a:prstGeom>
          <a:noFill/>
          <a:ln>
            <a:noFill/>
          </a:ln>
        </p:spPr>
      </p:pic>
      <p:sp>
        <p:nvSpPr>
          <p:cNvPr id="2" name="Text Box 1"/>
          <p:cNvSpPr txBox="1"/>
          <p:nvPr/>
        </p:nvSpPr>
        <p:spPr>
          <a:xfrm>
            <a:off x="1434331" y="2327910"/>
            <a:ext cx="9787850" cy="3596005"/>
          </a:xfrm>
          <a:prstGeom prst="rect">
            <a:avLst/>
          </a:prstGeom>
        </p:spPr>
        <p:txBody>
          <a:bodyPr wrap="square">
            <a:noAutofit/>
          </a:bodyPr>
          <a:lstStyle/>
          <a:p>
            <a:pPr algn="just" eaLnBrk="0" fontAlgn="base" hangingPunct="0">
              <a:spcBef>
                <a:spcPct val="0"/>
              </a:spcBef>
              <a:spcAft>
                <a:spcPct val="0"/>
              </a:spcAft>
            </a:pPr>
            <a:r>
              <a:rPr lang="en-US" sz="2200" dirty="0">
                <a:latin typeface="Times New Roman" panose="02020603050405020304" pitchFamily="18" charset="0"/>
                <a:cs typeface="Times New Roman" panose="02020603050405020304" pitchFamily="18" charset="0"/>
              </a:rPr>
              <a:t>The NLP-Driven Resume Screening and Intelligent Job Recommendation System is designed to automate the process of analyzing resumes and matching candidates with suitable job opportunities. The system uses Natural Language Processing techniques to extract important information such as skills, education, and experience from resumes. It compares candidate profiles with job descriptions, calculates matching scores, and recommends the most relevant job roles. This approach reduces manual screening effort and provides faster, more personalized, and efficient job recommendations.</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 Box 7"/>
          <p:cNvSpPr txBox="1"/>
          <p:nvPr/>
        </p:nvSpPr>
        <p:spPr>
          <a:xfrm>
            <a:off x="4550256" y="752381"/>
            <a:ext cx="3556000" cy="58356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p:nvPr/>
        </p:nvPicPr>
        <p:blipFill>
          <a:blip r:embed="rId2" cstate="print">
            <a:extLst>
              <a:ext uri="{28A0092B-C50C-407E-A947-70E740481C1C}">
                <a14:useLocalDpi xmlns:a14="http://schemas.microsoft.com/office/drawing/2010/main" val="0"/>
              </a:ext>
            </a:extLst>
          </a:blip>
          <a:srcRect/>
          <a:stretch>
            <a:fillRect/>
          </a:stretch>
        </p:blipFill>
        <p:spPr>
          <a:xfrm>
            <a:off x="428990" y="372722"/>
            <a:ext cx="1135117" cy="1342884"/>
          </a:xfrm>
          <a:prstGeom prst="rect">
            <a:avLst/>
          </a:prstGeom>
          <a:noFill/>
        </p:spPr>
      </p:pic>
      <p:pic>
        <p:nvPicPr>
          <p:cNvPr id="13" name="Picture 12"/>
          <p:cNvPicPr/>
          <p:nvPr/>
        </p:nvPicPr>
        <p:blipFill>
          <a:blip r:embed="rId3">
            <a:extLst>
              <a:ext uri="{28A0092B-C50C-407E-A947-70E740481C1C}">
                <a14:useLocalDpi xmlns:a14="http://schemas.microsoft.com/office/drawing/2010/main" val="0"/>
              </a:ext>
            </a:extLst>
          </a:blip>
          <a:srcRect/>
          <a:stretch>
            <a:fillRect/>
          </a:stretch>
        </p:blipFill>
        <p:spPr bwMode="auto">
          <a:xfrm>
            <a:off x="10276607" y="353408"/>
            <a:ext cx="1520114" cy="1342884"/>
          </a:xfrm>
          <a:prstGeom prst="rect">
            <a:avLst/>
          </a:prstGeom>
          <a:noFill/>
          <a:ln>
            <a:noFill/>
          </a:ln>
        </p:spPr>
      </p:pic>
      <p:sp>
        <p:nvSpPr>
          <p:cNvPr id="2" name="Text Box 1"/>
          <p:cNvSpPr txBox="1"/>
          <p:nvPr/>
        </p:nvSpPr>
        <p:spPr>
          <a:xfrm>
            <a:off x="810877" y="2001722"/>
            <a:ext cx="10843260" cy="3596005"/>
          </a:xfrm>
          <a:prstGeom prst="rect">
            <a:avLst/>
          </a:prstGeom>
        </p:spPr>
        <p:txBody>
          <a:bodyPr wrap="square">
            <a:noAutofit/>
          </a:bodyPr>
          <a:lstStyle/>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Natural Language Processing (NLP) to automatically analyze and understand candidate resumes.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extracts important information such as skills, education, experience, and qualifications from resumes.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information is compared with available job requirements to identify suitable opportunities.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recommends jobs based on how well a candidate's profile matches the required skills and experience.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makes the recruitment process faster, smarter, and more personalized for both candidates and recruiters. </a:t>
            </a:r>
          </a:p>
        </p:txBody>
      </p:sp>
      <p:sp>
        <p:nvSpPr>
          <p:cNvPr id="8" name="Text Box 7"/>
          <p:cNvSpPr txBox="1"/>
          <p:nvPr/>
        </p:nvSpPr>
        <p:spPr>
          <a:xfrm>
            <a:off x="4199890" y="934085"/>
            <a:ext cx="3556000" cy="583565"/>
          </a:xfrm>
          <a:prstGeom prst="rect">
            <a:avLst/>
          </a:prstGeom>
          <a:noFill/>
        </p:spPr>
        <p:txBody>
          <a:bodyPr wrap="square" rtlCol="0">
            <a:spAutoFit/>
          </a:bodyPr>
          <a:lstStyle/>
          <a:p>
            <a:r>
              <a:rPr lang="en-US" sz="3200" b="1">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691474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p:nvPr>
            <p:extLst>
              <p:ext uri="{D42A27DB-BD31-4B8C-83A1-F6EECF244321}">
                <p14:modId xmlns:p14="http://schemas.microsoft.com/office/powerpoint/2010/main" val="259803242"/>
              </p:ext>
            </p:extLst>
          </p:nvPr>
        </p:nvGraphicFramePr>
        <p:xfrm>
          <a:off x="358294" y="1381183"/>
          <a:ext cx="11473488" cy="5401406"/>
        </p:xfrm>
        <a:graphic>
          <a:graphicData uri="http://schemas.openxmlformats.org/drawingml/2006/table">
            <a:tbl>
              <a:tblPr firstRow="1" bandRow="1">
                <a:tableStyleId>{5C22544A-7EE6-4342-B048-85BDC9FD1C3A}</a:tableStyleId>
              </a:tblPr>
              <a:tblGrid>
                <a:gridCol w="1638618">
                  <a:extLst>
                    <a:ext uri="{9D8B030D-6E8A-4147-A177-3AD203B41FA5}">
                      <a16:colId xmlns:a16="http://schemas.microsoft.com/office/drawing/2014/main" val="20000"/>
                    </a:ext>
                  </a:extLst>
                </a:gridCol>
                <a:gridCol w="1831340">
                  <a:extLst>
                    <a:ext uri="{9D8B030D-6E8A-4147-A177-3AD203B41FA5}">
                      <a16:colId xmlns:a16="http://schemas.microsoft.com/office/drawing/2014/main" val="20001"/>
                    </a:ext>
                  </a:extLst>
                </a:gridCol>
                <a:gridCol w="1831340">
                  <a:extLst>
                    <a:ext uri="{9D8B030D-6E8A-4147-A177-3AD203B41FA5}">
                      <a16:colId xmlns:a16="http://schemas.microsoft.com/office/drawing/2014/main" val="20002"/>
                    </a:ext>
                  </a:extLst>
                </a:gridCol>
                <a:gridCol w="1831340">
                  <a:extLst>
                    <a:ext uri="{9D8B030D-6E8A-4147-A177-3AD203B41FA5}">
                      <a16:colId xmlns:a16="http://schemas.microsoft.com/office/drawing/2014/main" val="20003"/>
                    </a:ext>
                  </a:extLst>
                </a:gridCol>
                <a:gridCol w="1831340">
                  <a:extLst>
                    <a:ext uri="{9D8B030D-6E8A-4147-A177-3AD203B41FA5}">
                      <a16:colId xmlns:a16="http://schemas.microsoft.com/office/drawing/2014/main" val="20004"/>
                    </a:ext>
                  </a:extLst>
                </a:gridCol>
                <a:gridCol w="2509510">
                  <a:extLst>
                    <a:ext uri="{9D8B030D-6E8A-4147-A177-3AD203B41FA5}">
                      <a16:colId xmlns:a16="http://schemas.microsoft.com/office/drawing/2014/main" val="20005"/>
                    </a:ext>
                  </a:extLst>
                </a:gridCol>
              </a:tblGrid>
              <a:tr h="646526">
                <a:tc>
                  <a:txBody>
                    <a:bodyPr/>
                    <a:lstStyle/>
                    <a:p>
                      <a:pPr marL="0" indent="0" fontAlgn="b">
                        <a:lnSpc>
                          <a:spcPts val="960"/>
                        </a:lnSpc>
                        <a:spcBef>
                          <a:spcPct val="0"/>
                        </a:spcBef>
                        <a:spcAft>
                          <a:spcPct val="0"/>
                        </a:spcAft>
                      </a:pPr>
                      <a:r>
                        <a:rPr sz="1600" b="1" i="0" dirty="0">
                          <a:solidFill>
                            <a:srgbClr val="0D0D0D"/>
                          </a:solidFill>
                          <a:latin typeface="Times New Roman" panose="02020603050405020304" pitchFamily="18" charset="0"/>
                          <a:ea typeface="-apple-system-body"/>
                          <a:cs typeface="Times New Roman" panose="02020603050405020304" pitchFamily="18" charset="0"/>
                        </a:rPr>
                        <a:t>Author / Year</a:t>
                      </a:r>
                    </a:p>
                  </a:txBody>
                  <a:tcPr marL="0" marR="0" marT="0" marB="76200" anchor="b"/>
                </a:tc>
                <a:tc>
                  <a:txBody>
                    <a:bodyPr/>
                    <a:lstStyle/>
                    <a:p>
                      <a:pPr marL="0" indent="0" fontAlgn="b">
                        <a:lnSpc>
                          <a:spcPts val="960"/>
                        </a:lnSpc>
                        <a:spcBef>
                          <a:spcPct val="0"/>
                        </a:spcBef>
                        <a:spcAft>
                          <a:spcPct val="0"/>
                        </a:spcAft>
                      </a:pPr>
                      <a:r>
                        <a:rPr sz="1600" b="1" i="0" dirty="0">
                          <a:solidFill>
                            <a:srgbClr val="0D0D0D"/>
                          </a:solidFill>
                          <a:latin typeface="Times New Roman" panose="02020603050405020304" pitchFamily="18" charset="0"/>
                          <a:ea typeface="-apple-system-body"/>
                          <a:cs typeface="Times New Roman" panose="02020603050405020304" pitchFamily="18" charset="0"/>
                        </a:rPr>
                        <a:t>Method / Technique</a:t>
                      </a:r>
                    </a:p>
                  </a:txBody>
                  <a:tcPr marL="0" marR="0" marT="0" marB="76200" anchor="b"/>
                </a:tc>
                <a:tc>
                  <a:txBody>
                    <a:bodyPr/>
                    <a:lstStyle/>
                    <a:p>
                      <a:pPr marL="0" indent="0" fontAlgn="b">
                        <a:lnSpc>
                          <a:spcPts val="960"/>
                        </a:lnSpc>
                        <a:spcBef>
                          <a:spcPct val="0"/>
                        </a:spcBef>
                        <a:spcAft>
                          <a:spcPct val="0"/>
                        </a:spcAft>
                      </a:pPr>
                      <a:r>
                        <a:rPr sz="1600" b="1" i="0">
                          <a:solidFill>
                            <a:srgbClr val="0D0D0D"/>
                          </a:solidFill>
                          <a:latin typeface="Times New Roman" panose="02020603050405020304" pitchFamily="18" charset="0"/>
                          <a:ea typeface="-apple-system-body"/>
                          <a:cs typeface="Times New Roman" panose="02020603050405020304" pitchFamily="18" charset="0"/>
                        </a:rPr>
                        <a:t>Focus Area</a:t>
                      </a:r>
                    </a:p>
                  </a:txBody>
                  <a:tcPr marL="0" marR="0" marT="0" marB="76200" anchor="b"/>
                </a:tc>
                <a:tc>
                  <a:txBody>
                    <a:bodyPr/>
                    <a:lstStyle/>
                    <a:p>
                      <a:pPr marL="0" indent="0" fontAlgn="b">
                        <a:lnSpc>
                          <a:spcPts val="960"/>
                        </a:lnSpc>
                        <a:spcBef>
                          <a:spcPct val="0"/>
                        </a:spcBef>
                        <a:spcAft>
                          <a:spcPct val="0"/>
                        </a:spcAft>
                      </a:pPr>
                      <a:r>
                        <a:rPr sz="1600" b="1" i="0">
                          <a:solidFill>
                            <a:srgbClr val="0D0D0D"/>
                          </a:solidFill>
                          <a:latin typeface="Times New Roman" panose="02020603050405020304" pitchFamily="18" charset="0"/>
                          <a:ea typeface="-apple-system-body"/>
                          <a:cs typeface="Times New Roman" panose="02020603050405020304" pitchFamily="18" charset="0"/>
                        </a:rPr>
                        <a:t>Key Feature</a:t>
                      </a:r>
                    </a:p>
                  </a:txBody>
                  <a:tcPr marL="0" marR="0" marT="0" marB="76200" anchor="b"/>
                </a:tc>
                <a:tc>
                  <a:txBody>
                    <a:bodyPr/>
                    <a:lstStyle/>
                    <a:p>
                      <a:pPr marL="0" indent="0" fontAlgn="b">
                        <a:lnSpc>
                          <a:spcPts val="960"/>
                        </a:lnSpc>
                        <a:spcBef>
                          <a:spcPct val="0"/>
                        </a:spcBef>
                        <a:spcAft>
                          <a:spcPct val="0"/>
                        </a:spcAft>
                      </a:pPr>
                      <a:r>
                        <a:rPr sz="1600" b="1" i="0">
                          <a:solidFill>
                            <a:srgbClr val="0D0D0D"/>
                          </a:solidFill>
                          <a:latin typeface="Times New Roman" panose="02020603050405020304" pitchFamily="18" charset="0"/>
                          <a:ea typeface="-apple-system-body"/>
                          <a:cs typeface="Times New Roman" panose="02020603050405020304" pitchFamily="18" charset="0"/>
                        </a:rPr>
                        <a:t>Outcome</a:t>
                      </a:r>
                    </a:p>
                  </a:txBody>
                  <a:tcPr marL="0" marR="0" marT="0" marB="76200" anchor="b"/>
                </a:tc>
                <a:tc>
                  <a:txBody>
                    <a:bodyPr/>
                    <a:lstStyle/>
                    <a:p>
                      <a:pPr marL="0" indent="0" fontAlgn="b">
                        <a:lnSpc>
                          <a:spcPts val="960"/>
                        </a:lnSpc>
                        <a:spcBef>
                          <a:spcPct val="0"/>
                        </a:spcBef>
                        <a:spcAft>
                          <a:spcPct val="0"/>
                        </a:spcAft>
                      </a:pPr>
                      <a:r>
                        <a:rPr sz="1600" b="1" i="0" dirty="0">
                          <a:solidFill>
                            <a:srgbClr val="0D0D0D"/>
                          </a:solidFill>
                          <a:latin typeface="Times New Roman" panose="02020603050405020304" pitchFamily="18" charset="0"/>
                          <a:ea typeface="-apple-system-body"/>
                          <a:cs typeface="Times New Roman" panose="02020603050405020304" pitchFamily="18" charset="0"/>
                        </a:rPr>
                        <a:t>Relevance to Our Work</a:t>
                      </a:r>
                    </a:p>
                  </a:txBody>
                  <a:tcPr marL="0" marR="0" marT="0" marB="76200" anchor="b"/>
                </a:tc>
                <a:extLst>
                  <a:ext uri="{0D108BD9-81ED-4DB2-BD59-A6C34878D82A}">
                    <a16:rowId xmlns:a16="http://schemas.microsoft.com/office/drawing/2014/main" val="10000"/>
                  </a:ext>
                </a:extLst>
              </a:tr>
              <a:tr h="1022406">
                <a:tc>
                  <a:txBody>
                    <a:bodyPr/>
                    <a:lstStyle/>
                    <a:p>
                      <a:r>
                        <a:rPr lang="en-IN" sz="1600" b="0">
                          <a:latin typeface="Times New Roman" panose="02020603050405020304" pitchFamily="18" charset="0"/>
                          <a:cs typeface="Times New Roman" panose="02020603050405020304" pitchFamily="18" charset="0"/>
                        </a:rPr>
                        <a:t>Huang et al., 2023 </a:t>
                      </a:r>
                    </a:p>
                  </a:txBody>
                  <a:tcPr anchor="ctr"/>
                </a:tc>
                <a:tc>
                  <a:txBody>
                    <a:bodyPr/>
                    <a:lstStyle/>
                    <a:p>
                      <a:r>
                        <a:rPr lang="en-US" sz="1600" b="0" dirty="0">
                          <a:latin typeface="Times New Roman" panose="02020603050405020304" pitchFamily="18" charset="0"/>
                          <a:cs typeface="Times New Roman" panose="02020603050405020304" pitchFamily="18" charset="0"/>
                        </a:rPr>
                        <a:t>Attentive Deep Neural Network + Attention Mechanism</a:t>
                      </a:r>
                    </a:p>
                  </a:txBody>
                  <a:tcPr anchor="ctr"/>
                </a:tc>
                <a:tc>
                  <a:txBody>
                    <a:bodyPr/>
                    <a:lstStyle/>
                    <a:p>
                      <a:r>
                        <a:rPr lang="en-IN" sz="1600" b="0">
                          <a:latin typeface="Times New Roman" panose="02020603050405020304" pitchFamily="18" charset="0"/>
                          <a:cs typeface="Times New Roman" panose="02020603050405020304" pitchFamily="18" charset="0"/>
                        </a:rPr>
                        <a:t>Resume and talent recommendation</a:t>
                      </a:r>
                    </a:p>
                  </a:txBody>
                  <a:tcPr anchor="ctr"/>
                </a:tc>
                <a:tc>
                  <a:txBody>
                    <a:bodyPr/>
                    <a:lstStyle/>
                    <a:p>
                      <a:r>
                        <a:rPr lang="en-US" sz="1600" b="0">
                          <a:latin typeface="Times New Roman" panose="02020603050405020304" pitchFamily="18" charset="0"/>
                          <a:cs typeface="Times New Roman" panose="02020603050405020304" pitchFamily="18" charset="0"/>
                        </a:rPr>
                        <a:t>Learns hidden relationships between resumes and job preferences</a:t>
                      </a:r>
                    </a:p>
                  </a:txBody>
                  <a:tcPr anchor="ctr"/>
                </a:tc>
                <a:tc>
                  <a:txBody>
                    <a:bodyPr/>
                    <a:lstStyle/>
                    <a:p>
                      <a:r>
                        <a:rPr lang="en-IN" sz="1600" b="0">
                          <a:latin typeface="Times New Roman" panose="02020603050405020304" pitchFamily="18" charset="0"/>
                          <a:cs typeface="Times New Roman" panose="02020603050405020304" pitchFamily="18" charset="0"/>
                        </a:rPr>
                        <a:t>Improved personalized talent recommendation</a:t>
                      </a:r>
                    </a:p>
                  </a:txBody>
                  <a:tcPr anchor="ctr"/>
                </a:tc>
                <a:tc>
                  <a:txBody>
                    <a:bodyPr/>
                    <a:lstStyle/>
                    <a:p>
                      <a:r>
                        <a:rPr lang="en-US" sz="1600" b="0" dirty="0">
                          <a:latin typeface="Times New Roman" panose="02020603050405020304" pitchFamily="18" charset="0"/>
                          <a:cs typeface="Times New Roman" panose="02020603050405020304" pitchFamily="18" charset="0"/>
                        </a:rPr>
                        <a:t>Helps us improve resume–job matching and recommendation accuracy</a:t>
                      </a:r>
                    </a:p>
                  </a:txBody>
                  <a:tcPr anchor="ctr"/>
                </a:tc>
                <a:extLst>
                  <a:ext uri="{0D108BD9-81ED-4DB2-BD59-A6C34878D82A}">
                    <a16:rowId xmlns:a16="http://schemas.microsoft.com/office/drawing/2014/main" val="10001"/>
                  </a:ext>
                </a:extLst>
              </a:tr>
              <a:tr h="1256098">
                <a:tc>
                  <a:txBody>
                    <a:bodyPr/>
                    <a:lstStyle/>
                    <a:p>
                      <a:r>
                        <a:rPr lang="en-IN" sz="1600" b="0" dirty="0">
                          <a:latin typeface="Times New Roman" panose="02020603050405020304" pitchFamily="18" charset="0"/>
                          <a:cs typeface="Times New Roman" panose="02020603050405020304" pitchFamily="18" charset="0"/>
                        </a:rPr>
                        <a:t>Kumar et al., 2024</a:t>
                      </a:r>
                    </a:p>
                  </a:txBody>
                  <a:tcPr anchor="ctr"/>
                </a:tc>
                <a:tc>
                  <a:txBody>
                    <a:bodyPr/>
                    <a:lstStyle/>
                    <a:p>
                      <a:r>
                        <a:rPr lang="en-IN" sz="1600" b="0" dirty="0">
                          <a:latin typeface="Times New Roman" panose="02020603050405020304" pitchFamily="18" charset="0"/>
                          <a:cs typeface="Times New Roman" panose="02020603050405020304" pitchFamily="18" charset="0"/>
                        </a:rPr>
                        <a:t>BERT + NLP + Web Scraping</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r>
                        <a:rPr lang="en-IN" sz="1600" b="0" dirty="0">
                          <a:latin typeface="Times New Roman" panose="02020603050405020304" pitchFamily="18" charset="0"/>
                          <a:cs typeface="Times New Roman" panose="02020603050405020304" pitchFamily="18" charset="0"/>
                        </a:rPr>
                        <a:t>Personalized Job Recommendation</a:t>
                      </a:r>
                    </a:p>
                  </a:txBody>
                  <a:tcPr anchor="ctr"/>
                </a:tc>
                <a:tc>
                  <a:txBody>
                    <a:bodyPr/>
                    <a:lstStyle/>
                    <a:p>
                      <a:r>
                        <a:rPr lang="en-US" sz="1600" b="0" dirty="0">
                          <a:latin typeface="Times New Roman" panose="02020603050405020304" pitchFamily="18" charset="0"/>
                          <a:cs typeface="Times New Roman" panose="02020603050405020304" pitchFamily="18" charset="0"/>
                        </a:rPr>
                        <a:t>Creates embeddings for user profiles and job descriptions</a:t>
                      </a:r>
                    </a:p>
                  </a:txBody>
                  <a:tcPr anchor="ctr"/>
                </a:tc>
                <a:tc>
                  <a:txBody>
                    <a:bodyPr/>
                    <a:lstStyle/>
                    <a:p>
                      <a:r>
                        <a:rPr lang="en-IN" sz="1600" b="0" dirty="0">
                          <a:latin typeface="Times New Roman" panose="02020603050405020304" pitchFamily="18" charset="0"/>
                          <a:cs typeface="Times New Roman" panose="02020603050405020304" pitchFamily="18" charset="0"/>
                        </a:rPr>
                        <a:t>Provides relevant job recommendations based on user profiles</a:t>
                      </a:r>
                    </a:p>
                  </a:txBody>
                  <a:tcPr anchor="ctr"/>
                </a:tc>
                <a:tc>
                  <a:txBody>
                    <a:bodyPr/>
                    <a:lstStyle/>
                    <a:p>
                      <a:r>
                        <a:rPr lang="en-US" sz="1600" b="0" dirty="0">
                          <a:latin typeface="Times New Roman" panose="02020603050405020304" pitchFamily="18" charset="0"/>
                          <a:cs typeface="Times New Roman" panose="02020603050405020304" pitchFamily="18" charset="0"/>
                        </a:rPr>
                        <a:t>Supports our NLP-based job recommendation module </a:t>
                      </a:r>
                    </a:p>
                  </a:txBody>
                  <a:tcPr anchor="ctr"/>
                </a:tc>
                <a:extLst>
                  <a:ext uri="{0D108BD9-81ED-4DB2-BD59-A6C34878D82A}">
                    <a16:rowId xmlns:a16="http://schemas.microsoft.com/office/drawing/2014/main" val="10002"/>
                  </a:ext>
                </a:extLst>
              </a:tr>
              <a:tr h="1022406">
                <a:tc>
                  <a:txBody>
                    <a:bodyPr/>
                    <a:lstStyle/>
                    <a:p>
                      <a:r>
                        <a:rPr lang="en-IN" sz="1600" b="0" dirty="0">
                          <a:latin typeface="Times New Roman" panose="02020603050405020304" pitchFamily="18" charset="0"/>
                          <a:cs typeface="Times New Roman" panose="02020603050405020304" pitchFamily="18" charset="0"/>
                        </a:rPr>
                        <a:t>Gan et al., 2025</a:t>
                      </a:r>
                    </a:p>
                  </a:txBody>
                  <a:tcPr anchor="ctr"/>
                </a:tc>
                <a:tc>
                  <a:txBody>
                    <a:bodyPr/>
                    <a:lstStyle/>
                    <a:p>
                      <a:r>
                        <a:rPr lang="en-IN" sz="1600" b="0" dirty="0">
                          <a:latin typeface="Times New Roman" panose="02020603050405020304" pitchFamily="18" charset="0"/>
                          <a:cs typeface="Times New Roman" panose="02020603050405020304" pitchFamily="18" charset="0"/>
                        </a:rPr>
                        <a:t>LLM Agents + NLP + Fine-tuning</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r>
                        <a:rPr lang="en-IN" sz="1600" b="0" dirty="0">
                          <a:latin typeface="Times New Roman" panose="02020603050405020304" pitchFamily="18" charset="0"/>
                          <a:cs typeface="Times New Roman" panose="02020603050405020304" pitchFamily="18" charset="0"/>
                        </a:rPr>
                        <a:t>Automated Resume Screening</a:t>
                      </a:r>
                    </a:p>
                  </a:txBody>
                  <a:tcPr anchor="ctr"/>
                </a:tc>
                <a:tc>
                  <a:txBody>
                    <a:bodyPr/>
                    <a:lstStyle/>
                    <a:p>
                      <a:r>
                        <a:rPr lang="en-US" sz="1600" b="0" dirty="0">
                          <a:latin typeface="Times New Roman" panose="02020603050405020304" pitchFamily="18" charset="0"/>
                          <a:cs typeface="Times New Roman" panose="02020603050405020304" pitchFamily="18" charset="0"/>
                        </a:rPr>
                        <a:t>Summarizes, grades, and makes screening decisions from </a:t>
                      </a:r>
                      <a:r>
                        <a:rPr lang="en-US" sz="1600" b="0" dirty="0" err="1">
                          <a:latin typeface="Times New Roman" panose="02020603050405020304" pitchFamily="18" charset="0"/>
                          <a:cs typeface="Times New Roman" panose="02020603050405020304" pitchFamily="18" charset="0"/>
                        </a:rPr>
                        <a:t>resumeS</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r>
                        <a:rPr lang="en-US" sz="1600" b="0" dirty="0">
                          <a:latin typeface="Times New Roman" panose="02020603050405020304" pitchFamily="18" charset="0"/>
                          <a:cs typeface="Times New Roman" panose="02020603050405020304" pitchFamily="18" charset="0"/>
                        </a:rPr>
                        <a:t>Screening was reported as 11× faster than manual methods</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r>
                        <a:rPr lang="en-US" sz="1600" b="0" dirty="0">
                          <a:latin typeface="Times New Roman" panose="02020603050405020304" pitchFamily="18" charset="0"/>
                          <a:cs typeface="Times New Roman" panose="02020603050405020304" pitchFamily="18" charset="0"/>
                        </a:rPr>
                        <a:t>Supports our automated resume screening and candidate evaluation</a:t>
                      </a:r>
                    </a:p>
                  </a:txBody>
                  <a:tcPr anchor="ctr"/>
                </a:tc>
                <a:extLst>
                  <a:ext uri="{0D108BD9-81ED-4DB2-BD59-A6C34878D82A}">
                    <a16:rowId xmlns:a16="http://schemas.microsoft.com/office/drawing/2014/main" val="10003"/>
                  </a:ext>
                </a:extLst>
              </a:tr>
              <a:tr h="1062134">
                <a:tc>
                  <a:txBody>
                    <a:bodyPr/>
                    <a:lstStyle/>
                    <a:p>
                      <a:r>
                        <a:rPr lang="en-IN" sz="1600" b="0" dirty="0">
                          <a:latin typeface="Times New Roman" panose="02020603050405020304" pitchFamily="18" charset="0"/>
                          <a:cs typeface="Times New Roman" panose="02020603050405020304" pitchFamily="18" charset="0"/>
                        </a:rPr>
                        <a:t>Gupta &amp; Singh, 2024</a:t>
                      </a:r>
                    </a:p>
                  </a:txBody>
                  <a:tcPr anchor="ctr"/>
                </a:tc>
                <a:tc>
                  <a:txBody>
                    <a:bodyPr/>
                    <a:lstStyle/>
                    <a:p>
                      <a:r>
                        <a:rPr lang="it-IT" sz="1600" b="0" dirty="0">
                          <a:latin typeface="Times New Roman" panose="02020603050405020304" pitchFamily="18" charset="0"/>
                          <a:cs typeface="Times New Roman" panose="02020603050405020304" pitchFamily="18" charset="0"/>
                        </a:rPr>
                        <a:t>Generative AI + NLP + Web Scraping</a:t>
                      </a:r>
                      <a:endParaRPr lang="en-US" sz="1600" b="0" dirty="0">
                        <a:latin typeface="Times New Roman" panose="02020603050405020304" pitchFamily="18" charset="0"/>
                        <a:cs typeface="Times New Roman" panose="02020603050405020304" pitchFamily="18" charset="0"/>
                      </a:endParaRPr>
                    </a:p>
                  </a:txBody>
                  <a:tcPr anchor="ctr"/>
                </a:tc>
                <a:tc>
                  <a:txBody>
                    <a:bodyPr/>
                    <a:lstStyle/>
                    <a:p>
                      <a:r>
                        <a:rPr lang="en-US" sz="1600" b="0" dirty="0">
                          <a:latin typeface="Times New Roman" panose="02020603050405020304" pitchFamily="18" charset="0"/>
                          <a:cs typeface="Times New Roman" panose="02020603050405020304" pitchFamily="18" charset="0"/>
                        </a:rPr>
                        <a:t>Resume Tracking and Job Suggestions</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r>
                        <a:rPr lang="en-US" sz="1600" b="0" dirty="0">
                          <a:latin typeface="Times New Roman" panose="02020603050405020304" pitchFamily="18" charset="0"/>
                          <a:cs typeface="Times New Roman" panose="02020603050405020304" pitchFamily="18" charset="0"/>
                        </a:rPr>
                        <a:t>Analyzes resumes and matches them with job descriptions</a:t>
                      </a:r>
                    </a:p>
                  </a:txBody>
                  <a:tcPr anchor="ctr"/>
                </a:tc>
                <a:tc>
                  <a:txBody>
                    <a:bodyPr/>
                    <a:lstStyle/>
                    <a:p>
                      <a:r>
                        <a:rPr lang="en-US" sz="1600" b="0" dirty="0">
                          <a:latin typeface="Times New Roman" panose="02020603050405020304" pitchFamily="18" charset="0"/>
                          <a:cs typeface="Times New Roman" panose="02020603050405020304" pitchFamily="18" charset="0"/>
                        </a:rPr>
                        <a:t>Provides personalized job suggestions and improves job-search efficiency</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r>
                        <a:rPr lang="en-US" sz="1600" b="0" dirty="0">
                          <a:latin typeface="Times New Roman" panose="02020603050405020304" pitchFamily="18" charset="0"/>
                          <a:cs typeface="Times New Roman" panose="02020603050405020304" pitchFamily="18" charset="0"/>
                        </a:rPr>
                        <a:t>Directly supports our resume analysis and job recommendation system</a:t>
                      </a:r>
                    </a:p>
                  </a:txBody>
                  <a:tcPr anchor="ctr"/>
                </a:tc>
                <a:extLst>
                  <a:ext uri="{0D108BD9-81ED-4DB2-BD59-A6C34878D82A}">
                    <a16:rowId xmlns:a16="http://schemas.microsoft.com/office/drawing/2014/main" val="10004"/>
                  </a:ext>
                </a:extLst>
              </a:tr>
            </a:tbl>
          </a:graphicData>
        </a:graphic>
      </p:graphicFrame>
      <p:pic>
        <p:nvPicPr>
          <p:cNvPr id="25" name="Picture 24"/>
          <p:cNvPicPr/>
          <p:nvPr/>
        </p:nvPicPr>
        <p:blipFill>
          <a:blip r:embed="rId2" cstate="print">
            <a:extLst>
              <a:ext uri="{28A0092B-C50C-407E-A947-70E740481C1C}">
                <a14:useLocalDpi xmlns:a14="http://schemas.microsoft.com/office/drawing/2010/main" val="0"/>
              </a:ext>
            </a:extLst>
          </a:blip>
          <a:srcRect/>
          <a:stretch>
            <a:fillRect/>
          </a:stretch>
        </p:blipFill>
        <p:spPr>
          <a:xfrm>
            <a:off x="428990" y="372722"/>
            <a:ext cx="1135117" cy="939188"/>
          </a:xfrm>
          <a:prstGeom prst="rect">
            <a:avLst/>
          </a:prstGeom>
          <a:noFill/>
        </p:spPr>
      </p:pic>
      <p:pic>
        <p:nvPicPr>
          <p:cNvPr id="26" name="Picture 25"/>
          <p:cNvPicPr/>
          <p:nvPr/>
        </p:nvPicPr>
        <p:blipFill>
          <a:blip r:embed="rId3">
            <a:extLst>
              <a:ext uri="{28A0092B-C50C-407E-A947-70E740481C1C}">
                <a14:useLocalDpi xmlns:a14="http://schemas.microsoft.com/office/drawing/2010/main" val="0"/>
              </a:ext>
            </a:extLst>
          </a:blip>
          <a:srcRect/>
          <a:stretch>
            <a:fillRect/>
          </a:stretch>
        </p:blipFill>
        <p:spPr bwMode="auto">
          <a:xfrm>
            <a:off x="10242896" y="372722"/>
            <a:ext cx="1520114" cy="939188"/>
          </a:xfrm>
          <a:prstGeom prst="rect">
            <a:avLst/>
          </a:prstGeom>
          <a:noFill/>
          <a:ln>
            <a:noFill/>
          </a:ln>
        </p:spPr>
      </p:pic>
      <p:sp>
        <p:nvSpPr>
          <p:cNvPr id="27" name="Text Box 26"/>
          <p:cNvSpPr txBox="1"/>
          <p:nvPr/>
        </p:nvSpPr>
        <p:spPr>
          <a:xfrm>
            <a:off x="3569241" y="555613"/>
            <a:ext cx="4668520" cy="573405"/>
          </a:xfrm>
          <a:prstGeom prst="rect">
            <a:avLst/>
          </a:prstGeom>
        </p:spPr>
        <p:txBody>
          <a:bodyPr wrap="square">
            <a:noAutofit/>
          </a:bodyPr>
          <a:lstStyle/>
          <a:p>
            <a:pPr marL="0" indent="0">
              <a:spcBef>
                <a:spcPts val="900"/>
              </a:spcBef>
              <a:spcAft>
                <a:spcPts val="200"/>
              </a:spcAft>
            </a:pPr>
            <a:r>
              <a:rPr sz="3200" b="1" i="0" dirty="0">
                <a:solidFill>
                  <a:srgbClr val="0D0D0D"/>
                </a:solidFill>
                <a:latin typeface="Times New Roman" panose="02020603050405020304" pitchFamily="18" charset="0"/>
                <a:ea typeface="-apple-system-body"/>
                <a:cs typeface="Times New Roman" panose="02020603050405020304" pitchFamily="18" charset="0"/>
              </a:rPr>
              <a:t>L</a:t>
            </a:r>
            <a:r>
              <a:rPr lang="en-US" sz="3200" b="1" i="0" dirty="0">
                <a:solidFill>
                  <a:srgbClr val="0D0D0D"/>
                </a:solidFill>
                <a:latin typeface="Times New Roman" panose="02020603050405020304" pitchFamily="18" charset="0"/>
                <a:ea typeface="-apple-system-body"/>
                <a:cs typeface="Times New Roman" panose="02020603050405020304" pitchFamily="18" charset="0"/>
              </a:rPr>
              <a:t>ITERATURE</a:t>
            </a:r>
            <a:r>
              <a:rPr sz="3200" b="1" i="0" dirty="0">
                <a:solidFill>
                  <a:srgbClr val="0D0D0D"/>
                </a:solidFill>
                <a:latin typeface="Times New Roman" panose="02020603050405020304" pitchFamily="18" charset="0"/>
                <a:ea typeface="-apple-system-body"/>
                <a:cs typeface="Times New Roman" panose="02020603050405020304" pitchFamily="18" charset="0"/>
              </a:rPr>
              <a:t> R</a:t>
            </a:r>
            <a:r>
              <a:rPr lang="en-US" sz="3200" b="1" i="0" dirty="0">
                <a:solidFill>
                  <a:srgbClr val="0D0D0D"/>
                </a:solidFill>
                <a:latin typeface="Times New Roman" panose="02020603050405020304" pitchFamily="18" charset="0"/>
                <a:ea typeface="-apple-system-body"/>
                <a:cs typeface="Times New Roman" panose="02020603050405020304" pitchFamily="18" charset="0"/>
              </a:rPr>
              <a:t>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a:xfrm>
            <a:off x="706534" y="297114"/>
            <a:ext cx="1135117" cy="1342884"/>
          </a:xfrm>
          <a:prstGeom prst="rect">
            <a:avLst/>
          </a:prstGeom>
          <a:noFill/>
        </p:spPr>
      </p:pic>
      <p:pic>
        <p:nvPicPr>
          <p:cNvPr id="12" name="Picture 11"/>
          <p:cNvPicPr/>
          <p:nvPr/>
        </p:nvPicPr>
        <p:blipFill>
          <a:blip r:embed="rId3">
            <a:extLst>
              <a:ext uri="{28A0092B-C50C-407E-A947-70E740481C1C}">
                <a14:useLocalDpi xmlns:a14="http://schemas.microsoft.com/office/drawing/2010/main" val="0"/>
              </a:ext>
            </a:extLst>
          </a:blip>
          <a:srcRect/>
          <a:stretch>
            <a:fillRect/>
          </a:stretch>
        </p:blipFill>
        <p:spPr bwMode="auto">
          <a:xfrm>
            <a:off x="9965352" y="297114"/>
            <a:ext cx="1520114" cy="1342884"/>
          </a:xfrm>
          <a:prstGeom prst="rect">
            <a:avLst/>
          </a:prstGeom>
          <a:noFill/>
          <a:ln>
            <a:noFill/>
          </a:ln>
        </p:spPr>
      </p:pic>
      <p:sp>
        <p:nvSpPr>
          <p:cNvPr id="3" name="Text Box 2"/>
          <p:cNvSpPr txBox="1"/>
          <p:nvPr/>
        </p:nvSpPr>
        <p:spPr>
          <a:xfrm>
            <a:off x="3330442" y="645390"/>
            <a:ext cx="5146119" cy="646331"/>
          </a:xfrm>
          <a:prstGeom prst="rect">
            <a:avLst/>
          </a:prstGeom>
        </p:spPr>
        <p:txBody>
          <a:bodyPr wrap="square">
            <a:spAutoFit/>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6" name="TextBox 5">
            <a:extLst>
              <a:ext uri="{FF2B5EF4-FFF2-40B4-BE49-F238E27FC236}">
                <a16:creationId xmlns:a16="http://schemas.microsoft.com/office/drawing/2014/main" id="{BDF89CD2-3790-EA7B-B817-D8D15E6DA202}"/>
              </a:ext>
            </a:extLst>
          </p:cNvPr>
          <p:cNvSpPr txBox="1"/>
          <p:nvPr/>
        </p:nvSpPr>
        <p:spPr>
          <a:xfrm>
            <a:off x="879739" y="2318871"/>
            <a:ext cx="10432521" cy="358636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Traditional resume screening mainly depends on manual review by recruiters, which takes a lot of time.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Resumes are often filtered using simple keyword matching, which may miss relevant skills.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Candidates may receive general job suggestions that are not fully personalized.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Screening a large number of resumes can lead to inconsistency and human errors.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systems may not clearly identify the skill gap between a candidate and a job. </a:t>
            </a:r>
          </a:p>
        </p:txBody>
      </p:sp>
    </p:spTree>
    <p:extLst>
      <p:ext uri="{BB962C8B-B14F-4D97-AF65-F5344CB8AC3E}">
        <p14:creationId xmlns:p14="http://schemas.microsoft.com/office/powerpoint/2010/main" val="220246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a:xfrm>
            <a:off x="706534" y="297114"/>
            <a:ext cx="1135117" cy="1342884"/>
          </a:xfrm>
          <a:prstGeom prst="rect">
            <a:avLst/>
          </a:prstGeom>
          <a:noFill/>
        </p:spPr>
      </p:pic>
      <p:pic>
        <p:nvPicPr>
          <p:cNvPr id="12" name="Picture 11"/>
          <p:cNvPicPr/>
          <p:nvPr/>
        </p:nvPicPr>
        <p:blipFill>
          <a:blip r:embed="rId3">
            <a:extLst>
              <a:ext uri="{28A0092B-C50C-407E-A947-70E740481C1C}">
                <a14:useLocalDpi xmlns:a14="http://schemas.microsoft.com/office/drawing/2010/main" val="0"/>
              </a:ext>
            </a:extLst>
          </a:blip>
          <a:srcRect/>
          <a:stretch>
            <a:fillRect/>
          </a:stretch>
        </p:blipFill>
        <p:spPr bwMode="auto">
          <a:xfrm>
            <a:off x="9965352" y="297114"/>
            <a:ext cx="1520114" cy="1342884"/>
          </a:xfrm>
          <a:prstGeom prst="rect">
            <a:avLst/>
          </a:prstGeom>
          <a:noFill/>
          <a:ln>
            <a:noFill/>
          </a:ln>
        </p:spPr>
      </p:pic>
      <p:sp>
        <p:nvSpPr>
          <p:cNvPr id="3" name="Text Box 2"/>
          <p:cNvSpPr txBox="1"/>
          <p:nvPr/>
        </p:nvSpPr>
        <p:spPr>
          <a:xfrm>
            <a:off x="3556000" y="836613"/>
            <a:ext cx="5080000" cy="583565"/>
          </a:xfrm>
          <a:prstGeom prst="rect">
            <a:avLst/>
          </a:prstGeom>
        </p:spPr>
        <p:txBody>
          <a:bodyPr>
            <a:spAutoFit/>
          </a:bodyPr>
          <a:lstStyle/>
          <a:p>
            <a:pPr marL="0" indent="0" fontAlgn="ctr">
              <a:spcBef>
                <a:spcPct val="0"/>
              </a:spcBef>
              <a:spcAft>
                <a:spcPts val="200"/>
              </a:spcAft>
            </a:pPr>
            <a:r>
              <a:rPr sz="3200" b="1" i="0">
                <a:solidFill>
                  <a:srgbClr val="0D0D0D"/>
                </a:solidFill>
                <a:latin typeface="Times New Roman" panose="02020603050405020304" pitchFamily="18" charset="0"/>
                <a:ea typeface="-apple-system-body"/>
                <a:cs typeface="Times New Roman" panose="02020603050405020304" pitchFamily="18" charset="0"/>
              </a:rPr>
              <a:t>P</a:t>
            </a:r>
            <a:r>
              <a:rPr lang="en-US" sz="3200" b="1" i="0">
                <a:solidFill>
                  <a:srgbClr val="0D0D0D"/>
                </a:solidFill>
                <a:latin typeface="Times New Roman" panose="02020603050405020304" pitchFamily="18" charset="0"/>
                <a:ea typeface="-apple-system-body"/>
                <a:cs typeface="Times New Roman" panose="02020603050405020304" pitchFamily="18" charset="0"/>
              </a:rPr>
              <a:t>ROBLEM</a:t>
            </a:r>
            <a:r>
              <a:rPr sz="3200" b="1" i="0">
                <a:solidFill>
                  <a:srgbClr val="0D0D0D"/>
                </a:solidFill>
                <a:latin typeface="Times New Roman" panose="02020603050405020304" pitchFamily="18" charset="0"/>
                <a:ea typeface="-apple-system-body"/>
                <a:cs typeface="Times New Roman" panose="02020603050405020304" pitchFamily="18" charset="0"/>
              </a:rPr>
              <a:t> S</a:t>
            </a:r>
            <a:r>
              <a:rPr lang="en-US" sz="3200" b="1" i="0">
                <a:solidFill>
                  <a:srgbClr val="0D0D0D"/>
                </a:solidFill>
                <a:latin typeface="Times New Roman" panose="02020603050405020304" pitchFamily="18" charset="0"/>
                <a:ea typeface="-apple-system-body"/>
                <a:cs typeface="Times New Roman" panose="02020603050405020304" pitchFamily="18" charset="0"/>
              </a:rPr>
              <a:t>TATMENT</a:t>
            </a:r>
          </a:p>
        </p:txBody>
      </p:sp>
      <p:sp>
        <p:nvSpPr>
          <p:cNvPr id="6" name="TextBox 5">
            <a:extLst>
              <a:ext uri="{FF2B5EF4-FFF2-40B4-BE49-F238E27FC236}">
                <a16:creationId xmlns:a16="http://schemas.microsoft.com/office/drawing/2014/main" id="{BDF89CD2-3790-EA7B-B817-D8D15E6DA202}"/>
              </a:ext>
            </a:extLst>
          </p:cNvPr>
          <p:cNvSpPr txBox="1"/>
          <p:nvPr/>
        </p:nvSpPr>
        <p:spPr>
          <a:xfrm>
            <a:off x="1136073" y="2204958"/>
            <a:ext cx="9919853" cy="3816429"/>
          </a:xfrm>
          <a:prstGeom prst="rect">
            <a:avLst/>
          </a:prstGeom>
          <a:noFill/>
        </p:spPr>
        <p:txBody>
          <a:bodyPr wrap="square">
            <a:spAutoFit/>
          </a:bodyPr>
          <a:lstStyle/>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Manually screening a large number of resumes is time-consuming and difficult for recruiters.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candidate skills may sometimes be missed during traditional resume screening.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Candidates often struggle to find jobs that properly match their skills and qualifications.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job matching methods may provide recommendations that are not sufficiently personalized. </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there is a need for an NLP-based system that automatically screens resumes and recommends suitable jobs accurately.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a:xfrm>
            <a:off x="706534" y="297114"/>
            <a:ext cx="1135117" cy="1342884"/>
          </a:xfrm>
          <a:prstGeom prst="rect">
            <a:avLst/>
          </a:prstGeom>
          <a:noFill/>
        </p:spPr>
      </p:pic>
      <p:pic>
        <p:nvPicPr>
          <p:cNvPr id="12" name="Picture 11"/>
          <p:cNvPicPr/>
          <p:nvPr/>
        </p:nvPicPr>
        <p:blipFill>
          <a:blip r:embed="rId3">
            <a:extLst>
              <a:ext uri="{28A0092B-C50C-407E-A947-70E740481C1C}">
                <a14:useLocalDpi xmlns:a14="http://schemas.microsoft.com/office/drawing/2010/main" val="0"/>
              </a:ext>
            </a:extLst>
          </a:blip>
          <a:srcRect/>
          <a:stretch>
            <a:fillRect/>
          </a:stretch>
        </p:blipFill>
        <p:spPr bwMode="auto">
          <a:xfrm>
            <a:off x="9965352" y="297114"/>
            <a:ext cx="1520114" cy="1342884"/>
          </a:xfrm>
          <a:prstGeom prst="rect">
            <a:avLst/>
          </a:prstGeom>
          <a:noFill/>
          <a:ln>
            <a:noFill/>
          </a:ln>
        </p:spPr>
      </p:pic>
      <p:sp>
        <p:nvSpPr>
          <p:cNvPr id="3" name="Text Box 2"/>
          <p:cNvSpPr txBox="1"/>
          <p:nvPr/>
        </p:nvSpPr>
        <p:spPr>
          <a:xfrm>
            <a:off x="3363501" y="850468"/>
            <a:ext cx="5080000" cy="646331"/>
          </a:xfrm>
          <a:prstGeom prst="rect">
            <a:avLst/>
          </a:prstGeom>
        </p:spPr>
        <p:txBody>
          <a:bodyPr>
            <a:spAutoFit/>
          </a:bodyPr>
          <a:lstStyle/>
          <a:p>
            <a:pPr marL="0" indent="0" algn="ctr" fontAlgn="ctr">
              <a:spcBef>
                <a:spcPct val="0"/>
              </a:spcBef>
              <a:spcAft>
                <a:spcPts val="200"/>
              </a:spcAft>
            </a:pPr>
            <a:r>
              <a:rPr lang="en-IN" sz="3600" b="1" dirty="0">
                <a:latin typeface="Times New Roman" panose="02020603050405020304" pitchFamily="18" charset="0"/>
                <a:cs typeface="Times New Roman" panose="02020603050405020304" pitchFamily="18" charset="0"/>
              </a:rPr>
              <a:t>PROPOSED SYSTEM</a:t>
            </a:r>
            <a:endParaRPr lang="en-US" sz="3600" b="1" i="0" dirty="0">
              <a:solidFill>
                <a:srgbClr val="0D0D0D"/>
              </a:solidFill>
              <a:latin typeface="Times New Roman" panose="02020603050405020304" pitchFamily="18" charset="0"/>
              <a:ea typeface="-apple-system-body"/>
              <a:cs typeface="Times New Roman" panose="02020603050405020304" pitchFamily="18" charset="0"/>
            </a:endParaRPr>
          </a:p>
        </p:txBody>
      </p:sp>
      <p:sp>
        <p:nvSpPr>
          <p:cNvPr id="6" name="TextBox 5">
            <a:extLst>
              <a:ext uri="{FF2B5EF4-FFF2-40B4-BE49-F238E27FC236}">
                <a16:creationId xmlns:a16="http://schemas.microsoft.com/office/drawing/2014/main" id="{BDF89CD2-3790-EA7B-B817-D8D15E6DA202}"/>
              </a:ext>
            </a:extLst>
          </p:cNvPr>
          <p:cNvSpPr txBox="1"/>
          <p:nvPr/>
        </p:nvSpPr>
        <p:spPr>
          <a:xfrm>
            <a:off x="706534" y="2152616"/>
            <a:ext cx="10945138" cy="4094198"/>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uses NLP to automatically understand and analyze resume content.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extracts important details such as skills, education, experience, and certifications.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candidate profile is intelligently compared with different job descriptions and requirements.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job matching score is calculated to identify the most suitable opportunities.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personalized job recommendations and identifies missing skills to help candidates improve.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101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p:nvPr/>
        </p:nvPicPr>
        <p:blipFill>
          <a:blip r:embed="rId2" cstate="print">
            <a:extLst>
              <a:ext uri="{28A0092B-C50C-407E-A947-70E740481C1C}">
                <a14:useLocalDpi xmlns:a14="http://schemas.microsoft.com/office/drawing/2010/main" val="0"/>
              </a:ext>
            </a:extLst>
          </a:blip>
          <a:srcRect/>
          <a:stretch>
            <a:fillRect/>
          </a:stretch>
        </p:blipFill>
        <p:spPr>
          <a:xfrm>
            <a:off x="526535" y="155008"/>
            <a:ext cx="1135117" cy="1342884"/>
          </a:xfrm>
          <a:prstGeom prst="rect">
            <a:avLst/>
          </a:prstGeom>
          <a:noFill/>
        </p:spPr>
      </p:pic>
      <p:pic>
        <p:nvPicPr>
          <p:cNvPr id="23" name="Picture 22"/>
          <p:cNvPicPr/>
          <p:nvPr/>
        </p:nvPicPr>
        <p:blipFill>
          <a:blip r:embed="rId3">
            <a:extLst>
              <a:ext uri="{28A0092B-C50C-407E-A947-70E740481C1C}">
                <a14:useLocalDpi xmlns:a14="http://schemas.microsoft.com/office/drawing/2010/main" val="0"/>
              </a:ext>
            </a:extLst>
          </a:blip>
          <a:srcRect/>
          <a:stretch>
            <a:fillRect/>
          </a:stretch>
        </p:blipFill>
        <p:spPr bwMode="auto">
          <a:xfrm>
            <a:off x="10145351" y="155008"/>
            <a:ext cx="1520114" cy="1342884"/>
          </a:xfrm>
          <a:prstGeom prst="rect">
            <a:avLst/>
          </a:prstGeom>
          <a:noFill/>
          <a:ln>
            <a:noFill/>
          </a:ln>
        </p:spPr>
      </p:pic>
      <p:sp>
        <p:nvSpPr>
          <p:cNvPr id="2" name="Text Box 1"/>
          <p:cNvSpPr txBox="1"/>
          <p:nvPr/>
        </p:nvSpPr>
        <p:spPr>
          <a:xfrm>
            <a:off x="637217" y="1989166"/>
            <a:ext cx="8049906" cy="4094198"/>
          </a:xfrm>
          <a:prstGeom prst="rect">
            <a:avLst/>
          </a:prstGeom>
        </p:spPr>
        <p:txBody>
          <a:bodyPr wrap="square">
            <a:spAutoFit/>
          </a:bodyPr>
          <a:lstStyle/>
          <a:p>
            <a:pPr marL="342900" indent="-342900" algn="just">
              <a:lnSpc>
                <a:spcPct val="150000"/>
              </a:lnSpc>
              <a:spcBef>
                <a:spcPct val="0"/>
              </a:spcBef>
              <a:spcAft>
                <a:spcPct val="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main objective of this project is to develop an NLP-based system that automatically analyzes resumes and extracts important candidate information such as skills, education, and experience. </a:t>
            </a:r>
          </a:p>
          <a:p>
            <a:pPr marL="342900" indent="-342900" algn="just">
              <a:lnSpc>
                <a:spcPct val="150000"/>
              </a:lnSpc>
              <a:spcBef>
                <a:spcPct val="0"/>
              </a:spcBef>
              <a:spcAft>
                <a:spcPct val="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compares this information with job requirements to identify suitable job opportunities. It aims to reduce the time and effort involved in manual resume screening while providing personalized and relevant job recommendations.</a:t>
            </a:r>
          </a:p>
          <a:p>
            <a:pPr marL="342900" indent="-342900" algn="just">
              <a:lnSpc>
                <a:spcPct val="150000"/>
              </a:lnSpc>
              <a:spcBef>
                <a:spcPct val="0"/>
              </a:spcBef>
              <a:spcAft>
                <a:spcPct val="0"/>
              </a:spcAft>
              <a:buFont typeface="Arial" panose="020B0604020202020204" pitchFamily="34" charset="0"/>
              <a:buChar char="•"/>
            </a:pPr>
            <a:endParaRPr sz="2200" b="0" i="0" dirty="0">
              <a:solidFill>
                <a:srgbClr val="0D0D0D"/>
              </a:solidFill>
              <a:latin typeface="Times New Roman" panose="02020603050405020304" pitchFamily="18" charset="0"/>
              <a:ea typeface="-apple-system-body"/>
              <a:cs typeface="Times New Roman" panose="02020603050405020304" pitchFamily="18" charset="0"/>
            </a:endParaRPr>
          </a:p>
        </p:txBody>
      </p:sp>
      <p:sp>
        <p:nvSpPr>
          <p:cNvPr id="4" name="Text Box 3"/>
          <p:cNvSpPr txBox="1"/>
          <p:nvPr/>
        </p:nvSpPr>
        <p:spPr>
          <a:xfrm>
            <a:off x="4662170" y="534670"/>
            <a:ext cx="2867025" cy="583565"/>
          </a:xfrm>
          <a:prstGeom prst="rect">
            <a:avLst/>
          </a:prstGeom>
          <a:noFill/>
        </p:spPr>
        <p:txBody>
          <a:bodyPr wrap="square" rtlCol="0">
            <a:spAutoFit/>
          </a:bodyPr>
          <a:lstStyle/>
          <a:p>
            <a:r>
              <a:rPr lang="en-US" sz="3200" b="1">
                <a:latin typeface="Times New Roman" panose="02020603050405020304" pitchFamily="18" charset="0"/>
                <a:cs typeface="Times New Roman" panose="02020603050405020304" pitchFamily="18" charset="0"/>
              </a:rPr>
              <a:t>OBJECTIVES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B0E3-2147-E24F-2D86-40B6529D5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0357B-1A67-711C-6B9B-56FE92A71C93}"/>
              </a:ext>
            </a:extLst>
          </p:cNvPr>
          <p:cNvSpPr>
            <a:spLocks noGrp="1"/>
          </p:cNvSpPr>
          <p:nvPr>
            <p:ph type="title"/>
          </p:nvPr>
        </p:nvSpPr>
        <p:spPr>
          <a:xfrm>
            <a:off x="2024330" y="237944"/>
            <a:ext cx="8040148" cy="466590"/>
          </a:xfrm>
        </p:spPr>
        <p:txBody>
          <a:bodyPr>
            <a:normAutofit/>
          </a:bodyPr>
          <a:lstStyle/>
          <a:p>
            <a:pPr algn="ctr"/>
            <a:r>
              <a:rPr lang="en-IN" sz="2400" b="1" dirty="0">
                <a:latin typeface="Times New Roman" panose="02020603050405020304" pitchFamily="18" charset="0"/>
                <a:cs typeface="Times New Roman" panose="02020603050405020304" pitchFamily="18" charset="0"/>
              </a:rPr>
              <a:t>SYSTEM ARCHITECUTURE</a:t>
            </a:r>
          </a:p>
        </p:txBody>
      </p:sp>
      <p:pic>
        <p:nvPicPr>
          <p:cNvPr id="3" name="object 4">
            <a:extLst>
              <a:ext uri="{FF2B5EF4-FFF2-40B4-BE49-F238E27FC236}">
                <a16:creationId xmlns:a16="http://schemas.microsoft.com/office/drawing/2014/main" id="{2B50E811-4A3E-BF87-EACF-D4AFE705794A}"/>
              </a:ext>
            </a:extLst>
          </p:cNvPr>
          <p:cNvPicPr/>
          <p:nvPr/>
        </p:nvPicPr>
        <p:blipFill>
          <a:blip r:embed="rId2" cstate="print"/>
          <a:stretch>
            <a:fillRect/>
          </a:stretch>
        </p:blipFill>
        <p:spPr>
          <a:xfrm>
            <a:off x="146726" y="343232"/>
            <a:ext cx="1164254" cy="707665"/>
          </a:xfrm>
          <a:prstGeom prst="rect">
            <a:avLst/>
          </a:prstGeom>
        </p:spPr>
      </p:pic>
      <p:pic>
        <p:nvPicPr>
          <p:cNvPr id="5" name="object 5">
            <a:extLst>
              <a:ext uri="{FF2B5EF4-FFF2-40B4-BE49-F238E27FC236}">
                <a16:creationId xmlns:a16="http://schemas.microsoft.com/office/drawing/2014/main" id="{BF2B22FA-D567-EBC2-501C-05B766C0FB53}"/>
              </a:ext>
            </a:extLst>
          </p:cNvPr>
          <p:cNvPicPr/>
          <p:nvPr/>
        </p:nvPicPr>
        <p:blipFill>
          <a:blip r:embed="rId3" cstate="print"/>
          <a:stretch>
            <a:fillRect/>
          </a:stretch>
        </p:blipFill>
        <p:spPr>
          <a:xfrm>
            <a:off x="10777828" y="317939"/>
            <a:ext cx="1414172" cy="707665"/>
          </a:xfrm>
          <a:prstGeom prst="rect">
            <a:avLst/>
          </a:prstGeom>
        </p:spPr>
      </p:pic>
      <p:pic>
        <p:nvPicPr>
          <p:cNvPr id="7" name="Picture 6">
            <a:extLst>
              <a:ext uri="{FF2B5EF4-FFF2-40B4-BE49-F238E27FC236}">
                <a16:creationId xmlns:a16="http://schemas.microsoft.com/office/drawing/2014/main" id="{4C17FDEE-6665-7033-194B-CA2C3FF48B6F}"/>
              </a:ext>
            </a:extLst>
          </p:cNvPr>
          <p:cNvPicPr>
            <a:picLocks noChangeAspect="1"/>
          </p:cNvPicPr>
          <p:nvPr/>
        </p:nvPicPr>
        <p:blipFill>
          <a:blip r:embed="rId4"/>
          <a:stretch>
            <a:fillRect/>
          </a:stretch>
        </p:blipFill>
        <p:spPr>
          <a:xfrm>
            <a:off x="678873" y="1097273"/>
            <a:ext cx="11139053" cy="5636036"/>
          </a:xfrm>
          <a:prstGeom prst="rect">
            <a:avLst/>
          </a:prstGeom>
        </p:spPr>
      </p:pic>
    </p:spTree>
    <p:extLst>
      <p:ext uri="{BB962C8B-B14F-4D97-AF65-F5344CB8AC3E}">
        <p14:creationId xmlns:p14="http://schemas.microsoft.com/office/powerpoint/2010/main" val="452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40881"/>
            <a:ext cx="1135117" cy="1342884"/>
          </a:xfrm>
          <a:prstGeom prst="rect">
            <a:avLst/>
          </a:prstGeom>
          <a:noFill/>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54736"/>
            <a:ext cx="1520114" cy="1342884"/>
          </a:xfrm>
          <a:prstGeom prst="rect">
            <a:avLst/>
          </a:prstGeom>
          <a:noFill/>
          <a:ln>
            <a:noFill/>
          </a:ln>
        </p:spPr>
      </p:pic>
      <p:sp>
        <p:nvSpPr>
          <p:cNvPr id="4" name="Text Box 3"/>
          <p:cNvSpPr txBox="1"/>
          <p:nvPr/>
        </p:nvSpPr>
        <p:spPr>
          <a:xfrm>
            <a:off x="1885683" y="454922"/>
            <a:ext cx="8035636" cy="1394356"/>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1 – </a:t>
            </a:r>
            <a:r>
              <a:rPr lang="en-US" sz="3000" b="1" dirty="0">
                <a:latin typeface="Times New Roman" panose="02020603050405020304" pitchFamily="18" charset="0"/>
                <a:cs typeface="Times New Roman" panose="02020603050405020304" pitchFamily="18" charset="0"/>
              </a:rPr>
              <a:t>Resume Data Collection and Preprocessing</a:t>
            </a:r>
            <a:endParaRPr lang="en-US" sz="3000" b="1" i="0" dirty="0">
              <a:solidFill>
                <a:srgbClr val="0D0D0D"/>
              </a:solidFill>
              <a:latin typeface="Times New Roman" panose="02020603050405020304" pitchFamily="18" charset="0"/>
              <a:ea typeface="-apple-system-body"/>
              <a:cs typeface="Times New Roman" panose="02020603050405020304" pitchFamily="18" charset="0"/>
            </a:endParaRPr>
          </a:p>
        </p:txBody>
      </p:sp>
      <p:sp>
        <p:nvSpPr>
          <p:cNvPr id="5" name="TextBox 4">
            <a:extLst>
              <a:ext uri="{FF2B5EF4-FFF2-40B4-BE49-F238E27FC236}">
                <a16:creationId xmlns:a16="http://schemas.microsoft.com/office/drawing/2014/main" id="{8F84B204-107F-1EE7-87F1-BBF3F8D01685}"/>
              </a:ext>
            </a:extLst>
          </p:cNvPr>
          <p:cNvSpPr txBox="1"/>
          <p:nvPr/>
        </p:nvSpPr>
        <p:spPr>
          <a:xfrm>
            <a:off x="679112" y="1966737"/>
            <a:ext cx="10833776" cy="4094198"/>
          </a:xfrm>
          <a:prstGeom prst="rect">
            <a:avLst/>
          </a:prstGeom>
          <a:noFill/>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Introduction:</a:t>
            </a:r>
            <a:r>
              <a:rPr lang="en-US" sz="2200" dirty="0">
                <a:latin typeface="Times New Roman" panose="02020603050405020304" pitchFamily="18" charset="0"/>
                <a:cs typeface="Times New Roman" panose="02020603050405020304" pitchFamily="18" charset="0"/>
              </a:rPr>
              <a:t> This module collects candidate resumes and prepares the text for accurate NLP analysis.</a:t>
            </a:r>
          </a:p>
          <a:p>
            <a:pPr>
              <a:lnSpc>
                <a:spcPct val="150000"/>
              </a:lnSpc>
            </a:pPr>
            <a:r>
              <a:rPr lang="en-US" sz="2200" b="1" dirty="0">
                <a:latin typeface="Times New Roman" panose="02020603050405020304" pitchFamily="18" charset="0"/>
                <a:cs typeface="Times New Roman" panose="02020603050405020304" pitchFamily="18" charset="0"/>
              </a:rPr>
              <a:t>Working: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Uploads resumes in formats such as PDF or DOCX.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Extracts the textual content from the uploaded resume.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Removes unnecessary symbols, spaces, and irrelevant information.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Converts the resume text into a clean and structured format.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Prepares the processed data for further analysis. </a:t>
            </a:r>
          </a:p>
        </p:txBody>
      </p:sp>
      <p:pic>
        <p:nvPicPr>
          <p:cNvPr id="2" name="Picture 1">
            <a:extLst>
              <a:ext uri="{FF2B5EF4-FFF2-40B4-BE49-F238E27FC236}">
                <a16:creationId xmlns:a16="http://schemas.microsoft.com/office/drawing/2014/main" id="{DA77B163-E81F-3C0E-52E4-19267DB27C9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27026"/>
            <a:ext cx="1135117" cy="134288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857973" y="447537"/>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1 – Output</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37001"/>
            <a:ext cx="1135117" cy="884356"/>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1095225"/>
          </a:xfrm>
          <a:prstGeom prst="rect">
            <a:avLst/>
          </a:prstGeom>
          <a:noFill/>
          <a:ln>
            <a:noFill/>
          </a:ln>
        </p:spPr>
      </p:pic>
      <p:pic>
        <p:nvPicPr>
          <p:cNvPr id="8" name="Picture 7">
            <a:extLst>
              <a:ext uri="{FF2B5EF4-FFF2-40B4-BE49-F238E27FC236}">
                <a16:creationId xmlns:a16="http://schemas.microsoft.com/office/drawing/2014/main" id="{12985831-2940-14F9-07CC-B4198B5F49EB}"/>
              </a:ext>
            </a:extLst>
          </p:cNvPr>
          <p:cNvPicPr>
            <a:picLocks noChangeAspect="1"/>
          </p:cNvPicPr>
          <p:nvPr/>
        </p:nvPicPr>
        <p:blipFill>
          <a:blip r:embed="rId4"/>
          <a:stretch>
            <a:fillRect/>
          </a:stretch>
        </p:blipFill>
        <p:spPr>
          <a:xfrm>
            <a:off x="0" y="1443834"/>
            <a:ext cx="12192000" cy="3970331"/>
          </a:xfrm>
          <a:prstGeom prst="rect">
            <a:avLst/>
          </a:prstGeom>
        </p:spPr>
      </p:pic>
      <p:pic>
        <p:nvPicPr>
          <p:cNvPr id="13" name="Picture 12">
            <a:extLst>
              <a:ext uri="{FF2B5EF4-FFF2-40B4-BE49-F238E27FC236}">
                <a16:creationId xmlns:a16="http://schemas.microsoft.com/office/drawing/2014/main" id="{AA99CB36-E58C-076F-90C3-470BF1A4C03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37001"/>
            <a:ext cx="1520114" cy="1095225"/>
          </a:xfrm>
          <a:prstGeom prst="rect">
            <a:avLst/>
          </a:prstGeom>
          <a:noFill/>
          <a:ln>
            <a:noFill/>
          </a:ln>
        </p:spPr>
      </p:pic>
    </p:spTree>
    <p:extLst>
      <p:ext uri="{BB962C8B-B14F-4D97-AF65-F5344CB8AC3E}">
        <p14:creationId xmlns:p14="http://schemas.microsoft.com/office/powerpoint/2010/main" val="3494994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0654CB-C7B7-F1C6-718A-70930DE43DC6}"/>
              </a:ext>
            </a:extLst>
          </p:cNvPr>
          <p:cNvSpPr txBox="1"/>
          <p:nvPr/>
        </p:nvSpPr>
        <p:spPr>
          <a:xfrm>
            <a:off x="1747138" y="323968"/>
            <a:ext cx="8312727" cy="1394356"/>
          </a:xfrm>
          <a:prstGeom prst="rect">
            <a:avLst/>
          </a:prstGeom>
          <a:noFill/>
        </p:spPr>
        <p:txBody>
          <a:bodyPr wrap="square">
            <a:spAutoFit/>
          </a:bodyPr>
          <a:lstStyle/>
          <a:p>
            <a:pPr marL="0" indent="0" algn="ctr">
              <a:lnSpc>
                <a:spcPct val="150000"/>
              </a:lnSpc>
              <a:spcBef>
                <a:spcPts val="900"/>
              </a:spcBef>
              <a:spcAft>
                <a:spcPts val="200"/>
              </a:spcAft>
            </a:pPr>
            <a:r>
              <a:rPr lang="en-IN" sz="3000" b="1" i="0" dirty="0">
                <a:solidFill>
                  <a:srgbClr val="0D0D0D"/>
                </a:solidFill>
                <a:latin typeface="Times New Roman" panose="02020603050405020304" pitchFamily="18" charset="0"/>
                <a:ea typeface="-apple-system-body"/>
                <a:cs typeface="Times New Roman" panose="02020603050405020304" pitchFamily="18" charset="0"/>
              </a:rPr>
              <a:t>Module 2 – </a:t>
            </a:r>
            <a:r>
              <a:rPr lang="en-US" sz="3000" b="1" dirty="0">
                <a:latin typeface="Times New Roman" panose="02020603050405020304" pitchFamily="18" charset="0"/>
                <a:cs typeface="Times New Roman" panose="02020603050405020304" pitchFamily="18" charset="0"/>
              </a:rPr>
              <a:t>Candidate Information and Skill Extraction</a:t>
            </a:r>
            <a:endParaRPr lang="en-IN" sz="3000" b="1" i="0" dirty="0">
              <a:solidFill>
                <a:srgbClr val="0D0D0D"/>
              </a:solidFill>
              <a:latin typeface="Times New Roman" panose="02020603050405020304" pitchFamily="18" charset="0"/>
              <a:ea typeface="-apple-system-body"/>
              <a:cs typeface="Times New Roman" panose="02020603050405020304" pitchFamily="18" charset="0"/>
            </a:endParaRPr>
          </a:p>
        </p:txBody>
      </p:sp>
      <p:pic>
        <p:nvPicPr>
          <p:cNvPr id="4" name="Picture 3">
            <a:extLst>
              <a:ext uri="{FF2B5EF4-FFF2-40B4-BE49-F238E27FC236}">
                <a16:creationId xmlns:a16="http://schemas.microsoft.com/office/drawing/2014/main" id="{2B7755DF-1EE2-04CC-0274-A1D8A27DC17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54736"/>
            <a:ext cx="1135117" cy="1342884"/>
          </a:xfrm>
          <a:prstGeom prst="rect">
            <a:avLst/>
          </a:prstGeom>
          <a:noFill/>
        </p:spPr>
      </p:pic>
      <p:pic>
        <p:nvPicPr>
          <p:cNvPr id="6" name="Picture 5">
            <a:extLst>
              <a:ext uri="{FF2B5EF4-FFF2-40B4-BE49-F238E27FC236}">
                <a16:creationId xmlns:a16="http://schemas.microsoft.com/office/drawing/2014/main" id="{C605C873-F117-BEA3-36CE-14B214F8843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40881"/>
            <a:ext cx="1520114" cy="1342884"/>
          </a:xfrm>
          <a:prstGeom prst="rect">
            <a:avLst/>
          </a:prstGeom>
          <a:noFill/>
          <a:ln>
            <a:noFill/>
          </a:ln>
        </p:spPr>
      </p:pic>
      <p:sp>
        <p:nvSpPr>
          <p:cNvPr id="2" name="TextBox 1">
            <a:extLst>
              <a:ext uri="{FF2B5EF4-FFF2-40B4-BE49-F238E27FC236}">
                <a16:creationId xmlns:a16="http://schemas.microsoft.com/office/drawing/2014/main" id="{426A8B8F-F410-6804-2AF0-379E0B68278C}"/>
              </a:ext>
            </a:extLst>
          </p:cNvPr>
          <p:cNvSpPr txBox="1"/>
          <p:nvPr/>
        </p:nvSpPr>
        <p:spPr>
          <a:xfrm>
            <a:off x="679112" y="1952883"/>
            <a:ext cx="10833776" cy="4094198"/>
          </a:xfrm>
          <a:prstGeom prst="rect">
            <a:avLst/>
          </a:prstGeom>
          <a:noFill/>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Introduction:</a:t>
            </a:r>
            <a:r>
              <a:rPr lang="en-US" sz="2200" dirty="0">
                <a:latin typeface="Times New Roman" panose="02020603050405020304" pitchFamily="18" charset="0"/>
                <a:cs typeface="Times New Roman" panose="02020603050405020304" pitchFamily="18" charset="0"/>
              </a:rPr>
              <a:t> This module uses NLP techniques to identify important information from the candidate's resume.</a:t>
            </a:r>
          </a:p>
          <a:p>
            <a:pPr>
              <a:lnSpc>
                <a:spcPct val="150000"/>
              </a:lnSpc>
            </a:pPr>
            <a:r>
              <a:rPr lang="en-US" sz="2200" b="1" dirty="0">
                <a:latin typeface="Times New Roman" panose="02020603050405020304" pitchFamily="18" charset="0"/>
                <a:cs typeface="Times New Roman" panose="02020603050405020304" pitchFamily="18" charset="0"/>
              </a:rPr>
              <a:t>Working: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Extracts the candidate's name and basic details.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Identifies technical and soft skills mentioned in the resume.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Detects educational qualifications and certifications.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Extracts work experience and relevant projects.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Creates a structured candidate profile from the resume.</a:t>
            </a:r>
          </a:p>
        </p:txBody>
      </p:sp>
    </p:spTree>
    <p:extLst>
      <p:ext uri="{BB962C8B-B14F-4D97-AF65-F5344CB8AC3E}">
        <p14:creationId xmlns:p14="http://schemas.microsoft.com/office/powerpoint/2010/main" val="2704804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857973" y="447537"/>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2 – Output</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50855"/>
            <a:ext cx="1135117" cy="884356"/>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1095225"/>
          </a:xfrm>
          <a:prstGeom prst="rect">
            <a:avLst/>
          </a:prstGeom>
          <a:noFill/>
          <a:ln>
            <a:noFill/>
          </a:ln>
        </p:spPr>
      </p:pic>
      <p:pic>
        <p:nvPicPr>
          <p:cNvPr id="7" name="Picture 6">
            <a:extLst>
              <a:ext uri="{FF2B5EF4-FFF2-40B4-BE49-F238E27FC236}">
                <a16:creationId xmlns:a16="http://schemas.microsoft.com/office/drawing/2014/main" id="{28EB3797-B8F5-BC89-E6EC-1743DEC3E836}"/>
              </a:ext>
            </a:extLst>
          </p:cNvPr>
          <p:cNvPicPr>
            <a:picLocks noChangeAspect="1"/>
          </p:cNvPicPr>
          <p:nvPr/>
        </p:nvPicPr>
        <p:blipFill>
          <a:blip r:embed="rId4"/>
          <a:stretch>
            <a:fillRect/>
          </a:stretch>
        </p:blipFill>
        <p:spPr>
          <a:xfrm>
            <a:off x="886691" y="1445945"/>
            <a:ext cx="10903527" cy="4964518"/>
          </a:xfrm>
          <a:prstGeom prst="rect">
            <a:avLst/>
          </a:prstGeom>
        </p:spPr>
      </p:pic>
    </p:spTree>
    <p:extLst>
      <p:ext uri="{BB962C8B-B14F-4D97-AF65-F5344CB8AC3E}">
        <p14:creationId xmlns:p14="http://schemas.microsoft.com/office/powerpoint/2010/main" val="3443872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ECB44832-A5AF-9517-DA1E-F7B20EA158CD}"/>
              </a:ext>
            </a:extLst>
          </p:cNvPr>
          <p:cNvSpPr txBox="1"/>
          <p:nvPr/>
        </p:nvSpPr>
        <p:spPr>
          <a:xfrm>
            <a:off x="1927246" y="453567"/>
            <a:ext cx="7772402"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3 – </a:t>
            </a:r>
            <a:r>
              <a:rPr lang="en-IN" sz="3000" b="1" dirty="0">
                <a:latin typeface="Times New Roman" panose="02020603050405020304" pitchFamily="18" charset="0"/>
                <a:cs typeface="Times New Roman" panose="02020603050405020304" pitchFamily="18" charset="0"/>
              </a:rPr>
              <a:t>Job Description Analysis</a:t>
            </a:r>
            <a:endParaRPr lang="en-US" sz="3000" b="1" i="0" dirty="0">
              <a:solidFill>
                <a:srgbClr val="0D0D0D"/>
              </a:solidFill>
              <a:latin typeface="Times New Roman" panose="02020603050405020304" pitchFamily="18" charset="0"/>
              <a:ea typeface="-apple-system-body"/>
              <a:cs typeface="Times New Roman" panose="02020603050405020304" pitchFamily="18" charset="0"/>
            </a:endParaRPr>
          </a:p>
        </p:txBody>
      </p:sp>
      <p:pic>
        <p:nvPicPr>
          <p:cNvPr id="3" name="Picture 2">
            <a:extLst>
              <a:ext uri="{FF2B5EF4-FFF2-40B4-BE49-F238E27FC236}">
                <a16:creationId xmlns:a16="http://schemas.microsoft.com/office/drawing/2014/main" id="{FF306D7C-89FC-78D4-0A98-3A5EDA0FC93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4060" y="127026"/>
            <a:ext cx="1135117" cy="1342884"/>
          </a:xfrm>
          <a:prstGeom prst="rect">
            <a:avLst/>
          </a:prstGeom>
          <a:noFill/>
        </p:spPr>
      </p:pic>
      <p:pic>
        <p:nvPicPr>
          <p:cNvPr id="4" name="Picture 3">
            <a:extLst>
              <a:ext uri="{FF2B5EF4-FFF2-40B4-BE49-F238E27FC236}">
                <a16:creationId xmlns:a16="http://schemas.microsoft.com/office/drawing/2014/main" id="{427B59C5-006A-B704-ACFC-6D743B2CE22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40881"/>
            <a:ext cx="1520114" cy="1342884"/>
          </a:xfrm>
          <a:prstGeom prst="rect">
            <a:avLst/>
          </a:prstGeom>
          <a:noFill/>
          <a:ln>
            <a:noFill/>
          </a:ln>
        </p:spPr>
      </p:pic>
      <p:sp>
        <p:nvSpPr>
          <p:cNvPr id="8" name="TextBox 7">
            <a:extLst>
              <a:ext uri="{FF2B5EF4-FFF2-40B4-BE49-F238E27FC236}">
                <a16:creationId xmlns:a16="http://schemas.microsoft.com/office/drawing/2014/main" id="{19947F64-8884-D56C-0F9B-389E5E4D6675}"/>
              </a:ext>
            </a:extLst>
          </p:cNvPr>
          <p:cNvSpPr txBox="1"/>
          <p:nvPr/>
        </p:nvSpPr>
        <p:spPr>
          <a:xfrm>
            <a:off x="968863" y="2053211"/>
            <a:ext cx="10531150" cy="4094198"/>
          </a:xfrm>
          <a:prstGeom prst="rect">
            <a:avLst/>
          </a:prstGeom>
          <a:noFill/>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Introduction:</a:t>
            </a:r>
            <a:r>
              <a:rPr lang="en-US" sz="2200" dirty="0">
                <a:latin typeface="Times New Roman" panose="02020603050405020304" pitchFamily="18" charset="0"/>
                <a:cs typeface="Times New Roman" panose="02020603050405020304" pitchFamily="18" charset="0"/>
              </a:rPr>
              <a:t> This module analyzes job descriptions to understand the requirements of different job roles.</a:t>
            </a:r>
          </a:p>
          <a:p>
            <a:pPr>
              <a:lnSpc>
                <a:spcPct val="150000"/>
              </a:lnSpc>
            </a:pPr>
            <a:r>
              <a:rPr lang="en-US" sz="2200" b="1" dirty="0">
                <a:latin typeface="Times New Roman" panose="02020603050405020304" pitchFamily="18" charset="0"/>
                <a:cs typeface="Times New Roman" panose="02020603050405020304" pitchFamily="18" charset="0"/>
              </a:rPr>
              <a:t>Working: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Collects job titles and job descriptions.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Extracts required technical skills and qualifications.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Identifies experience requirements for each job.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Processes job descriptions using NLP techniques.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Creates a structured job requirement profile.</a:t>
            </a:r>
          </a:p>
        </p:txBody>
      </p:sp>
    </p:spTree>
    <p:extLst>
      <p:ext uri="{BB962C8B-B14F-4D97-AF65-F5344CB8AC3E}">
        <p14:creationId xmlns:p14="http://schemas.microsoft.com/office/powerpoint/2010/main" val="4173493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857973" y="447537"/>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a:t>
            </a:r>
            <a:r>
              <a:rPr lang="en-US" sz="3000" b="1" dirty="0">
                <a:solidFill>
                  <a:srgbClr val="0D0D0D"/>
                </a:solidFill>
                <a:latin typeface="Times New Roman" panose="02020603050405020304" pitchFamily="18" charset="0"/>
                <a:ea typeface="-apple-system-body"/>
                <a:cs typeface="Times New Roman" panose="02020603050405020304" pitchFamily="18" charset="0"/>
              </a:rPr>
              <a:t>3 </a:t>
            </a:r>
            <a:r>
              <a:rPr lang="en-US" sz="3000" b="1" i="0" dirty="0">
                <a:solidFill>
                  <a:srgbClr val="0D0D0D"/>
                </a:solidFill>
                <a:latin typeface="Times New Roman" panose="02020603050405020304" pitchFamily="18" charset="0"/>
                <a:ea typeface="-apple-system-body"/>
                <a:cs typeface="Times New Roman" panose="02020603050405020304" pitchFamily="18" charset="0"/>
              </a:rPr>
              <a:t>– Output</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50855"/>
            <a:ext cx="1135117" cy="884356"/>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1095225"/>
          </a:xfrm>
          <a:prstGeom prst="rect">
            <a:avLst/>
          </a:prstGeom>
          <a:noFill/>
          <a:ln>
            <a:noFill/>
          </a:ln>
        </p:spPr>
      </p:pic>
      <p:pic>
        <p:nvPicPr>
          <p:cNvPr id="3" name="Picture 2">
            <a:extLst>
              <a:ext uri="{FF2B5EF4-FFF2-40B4-BE49-F238E27FC236}">
                <a16:creationId xmlns:a16="http://schemas.microsoft.com/office/drawing/2014/main" id="{4B9E14E2-B5B0-16BA-D2E8-0C704174B24D}"/>
              </a:ext>
            </a:extLst>
          </p:cNvPr>
          <p:cNvPicPr>
            <a:picLocks noChangeAspect="1"/>
          </p:cNvPicPr>
          <p:nvPr/>
        </p:nvPicPr>
        <p:blipFill>
          <a:blip r:embed="rId4"/>
          <a:stretch>
            <a:fillRect/>
          </a:stretch>
        </p:blipFill>
        <p:spPr>
          <a:xfrm>
            <a:off x="1108546" y="2009645"/>
            <a:ext cx="10178911" cy="3974781"/>
          </a:xfrm>
          <a:prstGeom prst="rect">
            <a:avLst/>
          </a:prstGeom>
        </p:spPr>
      </p:pic>
    </p:spTree>
    <p:extLst>
      <p:ext uri="{BB962C8B-B14F-4D97-AF65-F5344CB8AC3E}">
        <p14:creationId xmlns:p14="http://schemas.microsoft.com/office/powerpoint/2010/main" val="3683426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64C736C5-BD0B-9137-EE5C-4E1C78CB9E9F}"/>
              </a:ext>
            </a:extLst>
          </p:cNvPr>
          <p:cNvSpPr txBox="1"/>
          <p:nvPr/>
        </p:nvSpPr>
        <p:spPr>
          <a:xfrm>
            <a:off x="2078182" y="441067"/>
            <a:ext cx="8035636" cy="2227918"/>
          </a:xfrm>
          <a:prstGeom prst="rect">
            <a:avLst/>
          </a:prstGeom>
          <a:noFill/>
        </p:spPr>
        <p:txBody>
          <a:bodyPr wrap="square" rtlCol="0">
            <a:spAutoFit/>
          </a:bodyPr>
          <a:lstStyle/>
          <a:p>
            <a:pPr algn="ctr">
              <a:lnSpc>
                <a:spcPct val="150000"/>
              </a:lnSpc>
              <a:spcBef>
                <a:spcPts val="900"/>
              </a:spcBef>
              <a:spcAft>
                <a:spcPts val="200"/>
              </a:spcAft>
            </a:pPr>
            <a:r>
              <a:rPr lang="en-IN" sz="3000" b="1" i="0" dirty="0">
                <a:solidFill>
                  <a:srgbClr val="0D0D0D"/>
                </a:solidFill>
                <a:latin typeface="Times New Roman" panose="02020603050405020304" pitchFamily="18" charset="0"/>
                <a:ea typeface="-apple-system-body"/>
                <a:cs typeface="Times New Roman" panose="02020603050405020304" pitchFamily="18" charset="0"/>
              </a:rPr>
              <a:t>Module 4 – </a:t>
            </a:r>
            <a:r>
              <a:rPr lang="en-US" sz="3000" b="1" dirty="0">
                <a:latin typeface="Times New Roman" panose="02020603050405020304" pitchFamily="18" charset="0"/>
                <a:cs typeface="Times New Roman" panose="02020603050405020304" pitchFamily="18" charset="0"/>
              </a:rPr>
              <a:t>Resume–Job Matching and Screening</a:t>
            </a:r>
          </a:p>
          <a:p>
            <a:pPr marL="0" indent="0" algn="ctr">
              <a:lnSpc>
                <a:spcPct val="150000"/>
              </a:lnSpc>
              <a:spcBef>
                <a:spcPts val="900"/>
              </a:spcBef>
              <a:spcAft>
                <a:spcPts val="200"/>
              </a:spcAft>
            </a:pPr>
            <a:endParaRPr lang="en-IN" sz="3000" b="1" i="0" dirty="0">
              <a:solidFill>
                <a:srgbClr val="0D0D0D"/>
              </a:solidFill>
              <a:latin typeface="Times New Roman" panose="02020603050405020304" pitchFamily="18" charset="0"/>
              <a:ea typeface="-apple-system-body"/>
              <a:cs typeface="Times New Roman" panose="02020603050405020304" pitchFamily="18" charset="0"/>
            </a:endParaRPr>
          </a:p>
        </p:txBody>
      </p:sp>
      <p:pic>
        <p:nvPicPr>
          <p:cNvPr id="3" name="Picture 2">
            <a:extLst>
              <a:ext uri="{FF2B5EF4-FFF2-40B4-BE49-F238E27FC236}">
                <a16:creationId xmlns:a16="http://schemas.microsoft.com/office/drawing/2014/main" id="{CCBB49CC-835C-CC24-5110-47AB8128D13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40881"/>
            <a:ext cx="1135117" cy="1342884"/>
          </a:xfrm>
          <a:prstGeom prst="rect">
            <a:avLst/>
          </a:prstGeom>
          <a:noFill/>
        </p:spPr>
      </p:pic>
      <p:pic>
        <p:nvPicPr>
          <p:cNvPr id="4" name="Picture 3">
            <a:extLst>
              <a:ext uri="{FF2B5EF4-FFF2-40B4-BE49-F238E27FC236}">
                <a16:creationId xmlns:a16="http://schemas.microsoft.com/office/drawing/2014/main" id="{69643F4A-C446-6E4D-01A1-3DF96ABAA7B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40881"/>
            <a:ext cx="1520114" cy="1342884"/>
          </a:xfrm>
          <a:prstGeom prst="rect">
            <a:avLst/>
          </a:prstGeom>
          <a:noFill/>
          <a:ln>
            <a:noFill/>
          </a:ln>
        </p:spPr>
      </p:pic>
      <p:sp>
        <p:nvSpPr>
          <p:cNvPr id="8" name="TextBox 7">
            <a:extLst>
              <a:ext uri="{FF2B5EF4-FFF2-40B4-BE49-F238E27FC236}">
                <a16:creationId xmlns:a16="http://schemas.microsoft.com/office/drawing/2014/main" id="{8AC5EF06-D1F1-D8C5-E622-D5180B4AFC57}"/>
              </a:ext>
            </a:extLst>
          </p:cNvPr>
          <p:cNvSpPr txBox="1"/>
          <p:nvPr/>
        </p:nvSpPr>
        <p:spPr>
          <a:xfrm>
            <a:off x="942109" y="2108584"/>
            <a:ext cx="10765722" cy="4094198"/>
          </a:xfrm>
          <a:prstGeom prst="rect">
            <a:avLst/>
          </a:prstGeom>
          <a:noFill/>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Introduction:</a:t>
            </a:r>
            <a:r>
              <a:rPr lang="en-US" sz="2200" dirty="0">
                <a:latin typeface="Times New Roman" panose="02020603050405020304" pitchFamily="18" charset="0"/>
                <a:cs typeface="Times New Roman" panose="02020603050405020304" pitchFamily="18" charset="0"/>
              </a:rPr>
              <a:t> This module compares the candidate profile with job requirements to determine suitability.</a:t>
            </a:r>
          </a:p>
          <a:p>
            <a:pPr>
              <a:lnSpc>
                <a:spcPct val="150000"/>
              </a:lnSpc>
            </a:pPr>
            <a:r>
              <a:rPr lang="en-US" sz="2200" b="1" dirty="0">
                <a:latin typeface="Times New Roman" panose="02020603050405020304" pitchFamily="18" charset="0"/>
                <a:cs typeface="Times New Roman" panose="02020603050405020304" pitchFamily="18" charset="0"/>
              </a:rPr>
              <a:t>Working: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Compares candidate skills with the required job skills.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Measures the similarity between the resume and job description.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Calculates a matching score for each available job.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Identifies missing or unmatched skills.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Screens and ranks candidates based on their job suitability.</a:t>
            </a:r>
          </a:p>
        </p:txBody>
      </p:sp>
    </p:spTree>
    <p:extLst>
      <p:ext uri="{BB962C8B-B14F-4D97-AF65-F5344CB8AC3E}">
        <p14:creationId xmlns:p14="http://schemas.microsoft.com/office/powerpoint/2010/main" val="578870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800064" y="250855"/>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4 – Output</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37000"/>
            <a:ext cx="1135117" cy="701859"/>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926781"/>
          </a:xfrm>
          <a:prstGeom prst="rect">
            <a:avLst/>
          </a:prstGeom>
          <a:noFill/>
          <a:ln>
            <a:noFill/>
          </a:ln>
        </p:spPr>
      </p:pic>
      <p:pic>
        <p:nvPicPr>
          <p:cNvPr id="9" name="Picture 8">
            <a:extLst>
              <a:ext uri="{FF2B5EF4-FFF2-40B4-BE49-F238E27FC236}">
                <a16:creationId xmlns:a16="http://schemas.microsoft.com/office/drawing/2014/main" id="{0AD57EB6-8747-D3C8-6484-7159DD121624}"/>
              </a:ext>
            </a:extLst>
          </p:cNvPr>
          <p:cNvPicPr>
            <a:picLocks noChangeAspect="1"/>
          </p:cNvPicPr>
          <p:nvPr/>
        </p:nvPicPr>
        <p:blipFill>
          <a:blip r:embed="rId4"/>
          <a:stretch>
            <a:fillRect/>
          </a:stretch>
        </p:blipFill>
        <p:spPr>
          <a:xfrm>
            <a:off x="1233054" y="952714"/>
            <a:ext cx="9725891" cy="3896269"/>
          </a:xfrm>
          <a:prstGeom prst="rect">
            <a:avLst/>
          </a:prstGeom>
        </p:spPr>
      </p:pic>
      <p:pic>
        <p:nvPicPr>
          <p:cNvPr id="11" name="Picture 10">
            <a:extLst>
              <a:ext uri="{FF2B5EF4-FFF2-40B4-BE49-F238E27FC236}">
                <a16:creationId xmlns:a16="http://schemas.microsoft.com/office/drawing/2014/main" id="{49DCDA88-1F24-A18C-999D-9CDCF177F3DE}"/>
              </a:ext>
            </a:extLst>
          </p:cNvPr>
          <p:cNvPicPr>
            <a:picLocks noChangeAspect="1"/>
          </p:cNvPicPr>
          <p:nvPr/>
        </p:nvPicPr>
        <p:blipFill>
          <a:blip r:embed="rId5"/>
          <a:stretch>
            <a:fillRect/>
          </a:stretch>
        </p:blipFill>
        <p:spPr>
          <a:xfrm>
            <a:off x="1399463" y="4595118"/>
            <a:ext cx="9559482" cy="2040267"/>
          </a:xfrm>
          <a:prstGeom prst="rect">
            <a:avLst/>
          </a:prstGeom>
        </p:spPr>
      </p:pic>
    </p:spTree>
    <p:extLst>
      <p:ext uri="{BB962C8B-B14F-4D97-AF65-F5344CB8AC3E}">
        <p14:creationId xmlns:p14="http://schemas.microsoft.com/office/powerpoint/2010/main" val="4084938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54736"/>
            <a:ext cx="1135117" cy="1342884"/>
          </a:xfrm>
          <a:prstGeom prst="rect">
            <a:avLst/>
          </a:prstGeom>
          <a:noFill/>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40881"/>
            <a:ext cx="1520114" cy="1342884"/>
          </a:xfrm>
          <a:prstGeom prst="rect">
            <a:avLst/>
          </a:prstGeom>
          <a:noFill/>
          <a:ln>
            <a:noFill/>
          </a:ln>
        </p:spPr>
      </p:pic>
      <p:sp>
        <p:nvSpPr>
          <p:cNvPr id="3" name="Text Box 3">
            <a:extLst>
              <a:ext uri="{FF2B5EF4-FFF2-40B4-BE49-F238E27FC236}">
                <a16:creationId xmlns:a16="http://schemas.microsoft.com/office/drawing/2014/main" id="{0E31077A-6FBF-2359-41A2-5B1045C92123}"/>
              </a:ext>
            </a:extLst>
          </p:cNvPr>
          <p:cNvSpPr txBox="1"/>
          <p:nvPr/>
        </p:nvSpPr>
        <p:spPr>
          <a:xfrm>
            <a:off x="1885683" y="319984"/>
            <a:ext cx="8035636" cy="1394356"/>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5 – </a:t>
            </a:r>
            <a:r>
              <a:rPr lang="en-US" sz="3000" b="1" dirty="0">
                <a:latin typeface="Times New Roman" panose="02020603050405020304" pitchFamily="18" charset="0"/>
                <a:cs typeface="Times New Roman" panose="02020603050405020304" pitchFamily="18" charset="0"/>
              </a:rPr>
              <a:t>Intelligent Job Recommendation and Results</a:t>
            </a:r>
            <a:endParaRPr lang="en-US" sz="3000" b="1" i="0" dirty="0">
              <a:solidFill>
                <a:srgbClr val="0D0D0D"/>
              </a:solidFill>
              <a:latin typeface="Times New Roman" panose="02020603050405020304" pitchFamily="18" charset="0"/>
              <a:ea typeface="-apple-system-body"/>
              <a:cs typeface="Times New Roman" panose="02020603050405020304" pitchFamily="18" charset="0"/>
            </a:endParaRPr>
          </a:p>
        </p:txBody>
      </p:sp>
      <p:sp>
        <p:nvSpPr>
          <p:cNvPr id="4" name="Text Box 2">
            <a:extLst>
              <a:ext uri="{FF2B5EF4-FFF2-40B4-BE49-F238E27FC236}">
                <a16:creationId xmlns:a16="http://schemas.microsoft.com/office/drawing/2014/main" id="{C4655526-DA75-F656-8A43-2B7FFCCA5C26}"/>
              </a:ext>
            </a:extLst>
          </p:cNvPr>
          <p:cNvSpPr txBox="1"/>
          <p:nvPr/>
        </p:nvSpPr>
        <p:spPr>
          <a:xfrm>
            <a:off x="1051727" y="2260884"/>
            <a:ext cx="10554480" cy="4094198"/>
          </a:xfrm>
          <a:prstGeom prst="rect">
            <a:avLst/>
          </a:prstGeom>
        </p:spPr>
        <p:txBody>
          <a:bodyPr wrap="square">
            <a:spAutoFit/>
          </a:bodyPr>
          <a:lstStyle/>
          <a:p>
            <a:pPr>
              <a:lnSpc>
                <a:spcPct val="150000"/>
              </a:lnSpc>
            </a:pPr>
            <a:r>
              <a:rPr lang="en-US" sz="2200" b="1" dirty="0">
                <a:latin typeface="Times New Roman" panose="02020603050405020304" pitchFamily="18" charset="0"/>
                <a:cs typeface="Times New Roman" panose="02020603050405020304" pitchFamily="18" charset="0"/>
              </a:rPr>
              <a:t>Introduction:</a:t>
            </a:r>
            <a:r>
              <a:rPr lang="en-US" sz="2200" dirty="0">
                <a:latin typeface="Times New Roman" panose="02020603050405020304" pitchFamily="18" charset="0"/>
                <a:cs typeface="Times New Roman" panose="02020603050405020304" pitchFamily="18" charset="0"/>
              </a:rPr>
              <a:t> This module recommends the most suitable jobs based on the candidate's profile and matching results.</a:t>
            </a:r>
          </a:p>
          <a:p>
            <a:pPr>
              <a:lnSpc>
                <a:spcPct val="150000"/>
              </a:lnSpc>
            </a:pPr>
            <a:r>
              <a:rPr lang="en-US" sz="2200" b="1" dirty="0">
                <a:latin typeface="Times New Roman" panose="02020603050405020304" pitchFamily="18" charset="0"/>
                <a:cs typeface="Times New Roman" panose="02020603050405020304" pitchFamily="18" charset="0"/>
              </a:rPr>
              <a:t>Working:</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Ranks job opportunities based on the calculated matching score.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Recommends the most relevant job roles to the candidate.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Displays matched skills and missing skills for each job.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Provides personalized suggestions to improve job suitability.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Presents the final results through a simple and user-friendly dashboard.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857973" y="447537"/>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Module 5</a:t>
            </a:r>
            <a:r>
              <a:rPr lang="en-US" sz="3000" b="1" dirty="0">
                <a:solidFill>
                  <a:srgbClr val="0D0D0D"/>
                </a:solidFill>
                <a:latin typeface="Times New Roman" panose="02020603050405020304" pitchFamily="18" charset="0"/>
                <a:ea typeface="-apple-system-body"/>
                <a:cs typeface="Times New Roman" panose="02020603050405020304" pitchFamily="18" charset="0"/>
              </a:rPr>
              <a:t> </a:t>
            </a:r>
            <a:r>
              <a:rPr lang="en-US" sz="3000" b="1" i="0" dirty="0">
                <a:solidFill>
                  <a:srgbClr val="0D0D0D"/>
                </a:solidFill>
                <a:latin typeface="Times New Roman" panose="02020603050405020304" pitchFamily="18" charset="0"/>
                <a:ea typeface="-apple-system-body"/>
                <a:cs typeface="Times New Roman" panose="02020603050405020304" pitchFamily="18" charset="0"/>
              </a:rPr>
              <a:t>– Output</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50855"/>
            <a:ext cx="1135117" cy="884356"/>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1095225"/>
          </a:xfrm>
          <a:prstGeom prst="rect">
            <a:avLst/>
          </a:prstGeom>
          <a:noFill/>
          <a:ln>
            <a:noFill/>
          </a:ln>
        </p:spPr>
      </p:pic>
      <p:pic>
        <p:nvPicPr>
          <p:cNvPr id="7" name="Picture 6">
            <a:extLst>
              <a:ext uri="{FF2B5EF4-FFF2-40B4-BE49-F238E27FC236}">
                <a16:creationId xmlns:a16="http://schemas.microsoft.com/office/drawing/2014/main" id="{7DAECAA3-814D-3C80-556B-C39D2FFF6121}"/>
              </a:ext>
            </a:extLst>
          </p:cNvPr>
          <p:cNvPicPr>
            <a:picLocks noChangeAspect="1"/>
          </p:cNvPicPr>
          <p:nvPr/>
        </p:nvPicPr>
        <p:blipFill>
          <a:blip r:embed="rId4"/>
          <a:stretch>
            <a:fillRect/>
          </a:stretch>
        </p:blipFill>
        <p:spPr>
          <a:xfrm>
            <a:off x="144485" y="1734007"/>
            <a:ext cx="5577441" cy="4062798"/>
          </a:xfrm>
          <a:prstGeom prst="rect">
            <a:avLst/>
          </a:prstGeom>
        </p:spPr>
      </p:pic>
      <p:pic>
        <p:nvPicPr>
          <p:cNvPr id="9" name="Picture 8">
            <a:extLst>
              <a:ext uri="{FF2B5EF4-FFF2-40B4-BE49-F238E27FC236}">
                <a16:creationId xmlns:a16="http://schemas.microsoft.com/office/drawing/2014/main" id="{6A054979-8962-FE1C-8DB9-58CF6AE4E6DD}"/>
              </a:ext>
            </a:extLst>
          </p:cNvPr>
          <p:cNvPicPr>
            <a:picLocks noChangeAspect="1"/>
          </p:cNvPicPr>
          <p:nvPr/>
        </p:nvPicPr>
        <p:blipFill>
          <a:blip r:embed="rId5"/>
          <a:stretch>
            <a:fillRect/>
          </a:stretch>
        </p:blipFill>
        <p:spPr>
          <a:xfrm>
            <a:off x="5951514" y="1734007"/>
            <a:ext cx="6096000" cy="3935932"/>
          </a:xfrm>
          <a:prstGeom prst="rect">
            <a:avLst/>
          </a:prstGeom>
        </p:spPr>
      </p:pic>
    </p:spTree>
    <p:extLst>
      <p:ext uri="{BB962C8B-B14F-4D97-AF65-F5344CB8AC3E}">
        <p14:creationId xmlns:p14="http://schemas.microsoft.com/office/powerpoint/2010/main" val="2145638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6A13A4E-C908-3697-A1A8-132AA4997CAA}"/>
              </a:ext>
            </a:extLst>
          </p:cNvPr>
          <p:cNvSpPr txBox="1"/>
          <p:nvPr/>
        </p:nvSpPr>
        <p:spPr>
          <a:xfrm>
            <a:off x="1704108" y="342103"/>
            <a:ext cx="8035636" cy="701859"/>
          </a:xfrm>
          <a:prstGeom prst="rect">
            <a:avLst/>
          </a:prstGeom>
          <a:noFill/>
        </p:spPr>
        <p:txBody>
          <a:bodyPr wrap="square" rtlCol="0">
            <a:spAutoFit/>
          </a:bodyPr>
          <a:lstStyle/>
          <a:p>
            <a:pPr marL="0" indent="0" algn="ctr">
              <a:lnSpc>
                <a:spcPct val="150000"/>
              </a:lnSpc>
              <a:spcBef>
                <a:spcPts val="900"/>
              </a:spcBef>
              <a:spcAft>
                <a:spcPts val="200"/>
              </a:spcAft>
            </a:pPr>
            <a:r>
              <a:rPr lang="en-US" sz="3000" b="1" i="0" dirty="0">
                <a:solidFill>
                  <a:srgbClr val="0D0D0D"/>
                </a:solidFill>
                <a:latin typeface="Times New Roman" panose="02020603050405020304" pitchFamily="18" charset="0"/>
                <a:ea typeface="-apple-system-body"/>
                <a:cs typeface="Times New Roman" panose="02020603050405020304" pitchFamily="18" charset="0"/>
              </a:rPr>
              <a:t>RESULTS</a:t>
            </a:r>
          </a:p>
        </p:txBody>
      </p:sp>
      <p:pic>
        <p:nvPicPr>
          <p:cNvPr id="5" name="Picture 4">
            <a:extLst>
              <a:ext uri="{FF2B5EF4-FFF2-40B4-BE49-F238E27FC236}">
                <a16:creationId xmlns:a16="http://schemas.microsoft.com/office/drawing/2014/main" id="{7A359D1C-2E76-4566-9DF5-ED30B96516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47525" y="250855"/>
            <a:ext cx="1135117" cy="884356"/>
          </a:xfrm>
          <a:prstGeom prst="rect">
            <a:avLst/>
          </a:prstGeom>
          <a:noFill/>
        </p:spPr>
      </p:pic>
      <p:pic>
        <p:nvPicPr>
          <p:cNvPr id="6" name="Picture 5">
            <a:extLst>
              <a:ext uri="{FF2B5EF4-FFF2-40B4-BE49-F238E27FC236}">
                <a16:creationId xmlns:a16="http://schemas.microsoft.com/office/drawing/2014/main" id="{93B3FF7D-2A9C-EED1-C4CD-B1CB4EF636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27400" y="250855"/>
            <a:ext cx="1520114" cy="1095225"/>
          </a:xfrm>
          <a:prstGeom prst="rect">
            <a:avLst/>
          </a:prstGeom>
          <a:noFill/>
          <a:ln>
            <a:noFill/>
          </a:ln>
        </p:spPr>
      </p:pic>
      <p:pic>
        <p:nvPicPr>
          <p:cNvPr id="3" name="Picture 2">
            <a:extLst>
              <a:ext uri="{FF2B5EF4-FFF2-40B4-BE49-F238E27FC236}">
                <a16:creationId xmlns:a16="http://schemas.microsoft.com/office/drawing/2014/main" id="{3B0AC0C3-8285-DE07-6DF5-84C350355515}"/>
              </a:ext>
            </a:extLst>
          </p:cNvPr>
          <p:cNvPicPr>
            <a:picLocks noChangeAspect="1"/>
          </p:cNvPicPr>
          <p:nvPr/>
        </p:nvPicPr>
        <p:blipFill>
          <a:blip r:embed="rId4"/>
          <a:stretch>
            <a:fillRect/>
          </a:stretch>
        </p:blipFill>
        <p:spPr>
          <a:xfrm>
            <a:off x="905911" y="1190313"/>
            <a:ext cx="9964541" cy="2238687"/>
          </a:xfrm>
          <a:prstGeom prst="rect">
            <a:avLst/>
          </a:prstGeom>
        </p:spPr>
      </p:pic>
      <p:pic>
        <p:nvPicPr>
          <p:cNvPr id="10" name="Picture 9">
            <a:extLst>
              <a:ext uri="{FF2B5EF4-FFF2-40B4-BE49-F238E27FC236}">
                <a16:creationId xmlns:a16="http://schemas.microsoft.com/office/drawing/2014/main" id="{C79A304C-EC89-DA1E-C907-899429A7EE6A}"/>
              </a:ext>
            </a:extLst>
          </p:cNvPr>
          <p:cNvPicPr>
            <a:picLocks noChangeAspect="1"/>
          </p:cNvPicPr>
          <p:nvPr/>
        </p:nvPicPr>
        <p:blipFill>
          <a:blip r:embed="rId5"/>
          <a:stretch>
            <a:fillRect/>
          </a:stretch>
        </p:blipFill>
        <p:spPr>
          <a:xfrm>
            <a:off x="744419" y="3484102"/>
            <a:ext cx="9955014" cy="2944091"/>
          </a:xfrm>
          <a:prstGeom prst="rect">
            <a:avLst/>
          </a:prstGeom>
        </p:spPr>
      </p:pic>
    </p:spTree>
    <p:extLst>
      <p:ext uri="{BB962C8B-B14F-4D97-AF65-F5344CB8AC3E}">
        <p14:creationId xmlns:p14="http://schemas.microsoft.com/office/powerpoint/2010/main" val="3126472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54736"/>
            <a:ext cx="1135117" cy="1342884"/>
          </a:xfrm>
          <a:prstGeom prst="rect">
            <a:avLst/>
          </a:prstGeom>
          <a:noFill/>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54736"/>
            <a:ext cx="1520114" cy="1342884"/>
          </a:xfrm>
          <a:prstGeom prst="rect">
            <a:avLst/>
          </a:prstGeom>
          <a:noFill/>
          <a:ln>
            <a:noFill/>
          </a:ln>
        </p:spPr>
      </p:pic>
      <p:sp>
        <p:nvSpPr>
          <p:cNvPr id="4" name="Text Box 3"/>
          <p:cNvSpPr txBox="1"/>
          <p:nvPr/>
        </p:nvSpPr>
        <p:spPr>
          <a:xfrm>
            <a:off x="3932133" y="668308"/>
            <a:ext cx="3942736" cy="584775"/>
          </a:xfrm>
          <a:prstGeom prst="rect">
            <a:avLst/>
          </a:prstGeom>
        </p:spPr>
        <p:txBody>
          <a:bodyPr wrap="square">
            <a:spAutoFit/>
          </a:bodyPr>
          <a:lstStyle/>
          <a:p>
            <a:pPr marL="0" indent="0">
              <a:spcBef>
                <a:spcPct val="0"/>
              </a:spcBef>
              <a:spcAft>
                <a:spcPts val="200"/>
              </a:spcAft>
            </a:pPr>
            <a:r>
              <a:rPr lang="en-US" sz="3200" b="1" i="0" dirty="0">
                <a:solidFill>
                  <a:srgbClr val="0D0D0D"/>
                </a:solidFill>
                <a:latin typeface="Times New Roman" panose="02020603050405020304" pitchFamily="18" charset="0"/>
                <a:ea typeface="-apple-system-body"/>
                <a:cs typeface="Times New Roman" panose="02020603050405020304" pitchFamily="18" charset="0"/>
              </a:rPr>
              <a:t>FUTURE SCOPE</a:t>
            </a:r>
          </a:p>
        </p:txBody>
      </p:sp>
      <p:sp>
        <p:nvSpPr>
          <p:cNvPr id="5" name="Text Box 2">
            <a:extLst>
              <a:ext uri="{FF2B5EF4-FFF2-40B4-BE49-F238E27FC236}">
                <a16:creationId xmlns:a16="http://schemas.microsoft.com/office/drawing/2014/main" id="{11B7DCEA-6880-9526-F1AE-872501DEF8E0}"/>
              </a:ext>
            </a:extLst>
          </p:cNvPr>
          <p:cNvSpPr txBox="1"/>
          <p:nvPr/>
        </p:nvSpPr>
        <p:spPr>
          <a:xfrm>
            <a:off x="688975" y="1918335"/>
            <a:ext cx="10814050" cy="4102100"/>
          </a:xfrm>
          <a:prstGeom prst="rect">
            <a:avLst/>
          </a:prstGeom>
        </p:spPr>
        <p:txBody>
          <a:bodyPr wrap="square">
            <a:no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improved using advanced AI and transformer models for better resume understanding.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can be integrated with real-time job portals and APIs to provide updated job opportunities.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versions can include AI-based interview preparation and career guidance.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multilingual feature can help analyze resumes and recommend jobs in different languages.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also provide personalized learning recommendations to help users develop missing skills.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54736"/>
            <a:ext cx="1135117" cy="1342884"/>
          </a:xfrm>
          <a:prstGeom prst="rect">
            <a:avLst/>
          </a:prstGeom>
          <a:noFill/>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54736"/>
            <a:ext cx="1520114" cy="1342884"/>
          </a:xfrm>
          <a:prstGeom prst="rect">
            <a:avLst/>
          </a:prstGeom>
          <a:noFill/>
          <a:ln>
            <a:noFill/>
          </a:ln>
        </p:spPr>
      </p:pic>
      <p:sp>
        <p:nvSpPr>
          <p:cNvPr id="3" name="Text Box 2"/>
          <p:cNvSpPr txBox="1"/>
          <p:nvPr/>
        </p:nvSpPr>
        <p:spPr>
          <a:xfrm>
            <a:off x="688975" y="2264699"/>
            <a:ext cx="10814050" cy="4102100"/>
          </a:xfrm>
          <a:prstGeom prst="rect">
            <a:avLst/>
          </a:prstGeom>
        </p:spPr>
        <p:txBody>
          <a:bodyPr wrap="square">
            <a:no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uses NLP to automatically analyze resumes and extract important candidate information. </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matches candidate skills, education, and experience with suitable job requirements. </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reduces the time and effort involved in manual resume screening. </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provides personalized job recommendations based on the candidate's profile. </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also identifies skill gaps, helping candidates improve their career opportunities. </a:t>
            </a:r>
          </a:p>
        </p:txBody>
      </p:sp>
      <p:sp>
        <p:nvSpPr>
          <p:cNvPr id="4" name="Text Box 3"/>
          <p:cNvSpPr txBox="1"/>
          <p:nvPr/>
        </p:nvSpPr>
        <p:spPr>
          <a:xfrm>
            <a:off x="4537710" y="826178"/>
            <a:ext cx="3116580" cy="583565"/>
          </a:xfrm>
          <a:prstGeom prst="rect">
            <a:avLst/>
          </a:prstGeom>
        </p:spPr>
        <p:txBody>
          <a:bodyPr wrap="square">
            <a:spAutoFit/>
          </a:bodyPr>
          <a:lstStyle/>
          <a:p>
            <a:pPr marL="0" indent="0">
              <a:spcBef>
                <a:spcPct val="0"/>
              </a:spcBef>
              <a:spcAft>
                <a:spcPts val="200"/>
              </a:spcAft>
            </a:pPr>
            <a:r>
              <a:rPr sz="3200" b="1" i="0" dirty="0">
                <a:solidFill>
                  <a:srgbClr val="0D0D0D"/>
                </a:solidFill>
                <a:latin typeface="Times New Roman" panose="02020603050405020304" pitchFamily="18" charset="0"/>
                <a:ea typeface="-apple-system-body"/>
                <a:cs typeface="Times New Roman" panose="02020603050405020304" pitchFamily="18" charset="0"/>
              </a:rPr>
              <a:t>C</a:t>
            </a:r>
            <a:r>
              <a:rPr lang="en-US" sz="3200" b="1" i="0" dirty="0">
                <a:solidFill>
                  <a:srgbClr val="0D0D0D"/>
                </a:solidFill>
                <a:latin typeface="Times New Roman" panose="02020603050405020304" pitchFamily="18" charset="0"/>
                <a:ea typeface="-apple-system-body"/>
                <a:cs typeface="Times New Roman" panose="02020603050405020304" pitchFamily="18" charset="0"/>
              </a:rPr>
              <a:t>ONCLUSION</a:t>
            </a:r>
          </a:p>
        </p:txBody>
      </p:sp>
    </p:spTree>
    <p:extLst>
      <p:ext uri="{BB962C8B-B14F-4D97-AF65-F5344CB8AC3E}">
        <p14:creationId xmlns:p14="http://schemas.microsoft.com/office/powerpoint/2010/main" val="1149184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a:xfrm>
            <a:off x="484169" y="154736"/>
            <a:ext cx="1135117" cy="1342884"/>
          </a:xfrm>
          <a:prstGeom prst="rect">
            <a:avLst/>
          </a:prstGeom>
          <a:noFill/>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187717" y="154736"/>
            <a:ext cx="1520114" cy="1342884"/>
          </a:xfrm>
          <a:prstGeom prst="rect">
            <a:avLst/>
          </a:prstGeom>
          <a:noFill/>
          <a:ln>
            <a:noFill/>
          </a:ln>
        </p:spPr>
      </p:pic>
      <p:sp>
        <p:nvSpPr>
          <p:cNvPr id="3" name="Text Box 2"/>
          <p:cNvSpPr txBox="1"/>
          <p:nvPr/>
        </p:nvSpPr>
        <p:spPr>
          <a:xfrm>
            <a:off x="688975" y="1973754"/>
            <a:ext cx="10814050" cy="4102100"/>
          </a:xfrm>
          <a:prstGeom prst="rect">
            <a:avLst/>
          </a:prstGeom>
        </p:spPr>
        <p:txBody>
          <a:bodyPr wrap="square">
            <a:no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Huang, Y., Liu, D.-R., &amp; Lee, S.-J. (2023). Talent Recommendation Based on Attentive Deep Neural Network and Implicit Relationships of Resumes.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Information Processing &amp; Management, 60</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103357.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Gan, C., Zhang, Q., &amp; Mori, T. (2024). Application of LLM Agents in Recruitment: A Novel Framework for Automated Resume Screening.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Information Processing, 32</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881–893.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H.,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Pezeshkpour</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Bhutani</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&amp;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Hruschka</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 (2025). Evaluating Bias in LLMs for Job-Resume Matching: Gender, Race, and Education.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NAACL 2025 Industry Track</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672–683.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Zhu, C., Hu, X., Wu, H., Qin, C., Zhu, H., &amp;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Xiong</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 (2025). Enhancing Job Recommendations with LLM-Based Resume Completion: A Behavior-Denoised Alignment Approach.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Information Processing &amp; Management, 62</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104261.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Yu, X., Xu, R.,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Xue</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et al. (2026).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ConFit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v3: Improving Resume-Job Matching with LLM-Based Re-Ranking. </a:t>
            </a:r>
            <a:r>
              <a:rPr kumimoji="0" lang="en-US" altLang="en-US" sz="200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4" name="Text Box 3"/>
          <p:cNvSpPr txBox="1"/>
          <p:nvPr/>
        </p:nvSpPr>
        <p:spPr>
          <a:xfrm>
            <a:off x="4345211" y="682163"/>
            <a:ext cx="3116580" cy="583565"/>
          </a:xfrm>
          <a:prstGeom prst="rect">
            <a:avLst/>
          </a:prstGeom>
        </p:spPr>
        <p:txBody>
          <a:bodyPr wrap="square">
            <a:spAutoFit/>
          </a:bodyPr>
          <a:lstStyle/>
          <a:p>
            <a:pPr marL="0" indent="0">
              <a:spcBef>
                <a:spcPct val="0"/>
              </a:spcBef>
              <a:spcAft>
                <a:spcPts val="200"/>
              </a:spcAft>
            </a:pPr>
            <a:r>
              <a:rPr lang="en-US" sz="3200" b="1" i="0" dirty="0">
                <a:solidFill>
                  <a:srgbClr val="0D0D0D"/>
                </a:solidFill>
                <a:latin typeface="Times New Roman" panose="02020603050405020304" pitchFamily="18" charset="0"/>
                <a:ea typeface="-apple-system-body"/>
                <a:cs typeface="Times New Roman" panose="02020603050405020304" pitchFamily="18" charset="0"/>
              </a:rPr>
              <a:t>REFERENCES</a:t>
            </a:r>
          </a:p>
        </p:txBody>
      </p:sp>
    </p:spTree>
    <p:extLst>
      <p:ext uri="{BB962C8B-B14F-4D97-AF65-F5344CB8AC3E}">
        <p14:creationId xmlns:p14="http://schemas.microsoft.com/office/powerpoint/2010/main" val="1602677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783204" y="2274838"/>
            <a:ext cx="6018530" cy="2800767"/>
          </a:xfrm>
          <a:prstGeom prst="rect">
            <a:avLst/>
          </a:prstGeom>
          <a:noFill/>
        </p:spPr>
        <p:txBody>
          <a:bodyPr wrap="square" rtlCol="0">
            <a:spAutoFit/>
          </a:bodyPr>
          <a:lstStyle/>
          <a:p>
            <a:pPr algn="ctr"/>
            <a:r>
              <a:rPr lang="en-US" sz="8800" dirty="0">
                <a:latin typeface="Bodoni MT Black" panose="02070A03080606020203" pitchFamily="18" charset="0"/>
                <a:cs typeface="Broadway" panose="04040905080B02020502"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1447</Words>
  <Application>Microsoft Office PowerPoint</Application>
  <PresentationFormat>Widescreen</PresentationFormat>
  <Paragraphs>156</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Bodoni MT Black</vt:lpstr>
      <vt:lpstr>Calibri</vt:lpstr>
      <vt:lpstr>Calibri Light</vt:lpstr>
      <vt:lpstr>Times New Roman</vt:lpstr>
      <vt:lpstr>Office Theme</vt:lpstr>
      <vt:lpstr>PowerPoint Presentation</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ARCHITECUTURE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nagotideep@gmail.com</dc:creator>
  <cp:lastModifiedBy>A Rohit</cp:lastModifiedBy>
  <cp:revision>11</cp:revision>
  <dcterms:created xsi:type="dcterms:W3CDTF">2026-07-24T15:40:00Z</dcterms:created>
  <dcterms:modified xsi:type="dcterms:W3CDTF">2026-08-25T06:04:06Z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8E4388D75EAB4D42BA620F7D9A2C74E5_13</vt:lpwstr>
  </property>
  <property fmtid="{D5CDD505-2E9C-101B-9397-08002B2CF9AE}" pid="3" name="KSOProductBuildVer">
    <vt:lpwstr>1033-12.1.0.26880</vt:lpwstr>
  </property>
</Properties>
</file>