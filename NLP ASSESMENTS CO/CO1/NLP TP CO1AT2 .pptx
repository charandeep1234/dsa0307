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6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67" autoAdjust="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11987-4AFA-47DC-AF47-613490990EEB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FE4E-271E-4436-8D83-DDD1C669F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3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FE4E-271E-4436-8D83-DDD1C669F33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83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E73A-3D97-A79C-7F9E-CB752C062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EE637-2CB4-43D0-5773-F4F140812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5051B-3099-9389-3DDC-9EF0E7A5C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35096-2FD7-549A-AF64-F7E126B5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CB343-E9D6-F0FA-AA05-CB426B75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7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3CAC-E500-45F9-60E7-1655998B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03E0C-C888-9125-8F66-CB6384A69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90F1-59A0-FD33-0DFE-C928D9AB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4874B-7DB5-2834-3C3D-C4D67B43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21681-1FD6-1D71-D67F-E1D7264E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68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292D-E013-4A34-F5A2-9AE700A3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E37D4-6E76-8309-CBC1-0AF1AED1C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11DB-A513-C293-FF87-EDDF9446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7C233-60EB-7202-5B68-0DBC0972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6FB94-F1EC-D6FC-9278-BD8CCAE6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82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E8D6-B462-4573-B1E0-EBEEE4A0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6ABA1-8DB5-A76E-711A-8D6A3F176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630FD-AA41-3B12-F692-DA9F4E077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B7615-F914-53B1-E798-AB67E273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AFB26-8F12-9C4A-DFE4-613E33CC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EF149-6E11-4D0B-D899-6BAE5288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5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9418-73C6-7FCD-EABB-D918B31E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8E353-9355-455C-94E0-8B4549C4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6A197-4772-30BA-AD3A-D0ACBA98D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8133B-14A5-872E-BB7D-C60479CD0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43DE25-3A7B-519D-A4A4-B49DC2B2A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0EC00-0134-A332-5557-5C94BFC1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2D049-A806-6CA9-9832-236AF560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69198B-8BA6-0AEC-8EB2-75EF8118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0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BED43-76CC-EE08-BAFE-043B5A42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648ED-1165-1352-8047-0172D93D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CF48B-E2B8-1A1C-6392-108EA1EA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921B9-D7F0-8FC7-C71E-BD112AF5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26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4E508-115A-AB11-323D-410C8E9F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D8C97-15F3-9A69-DF3D-4272D9E4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750EA-FE08-B8AC-7C7D-C6A00314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87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6C1D-D6BB-BF0B-7432-1DE9AAA0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2BF7-431D-236B-C6A3-38F60B3B3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60CAB-4228-8C4B-6C16-9741498DF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E09FD-A278-B42D-770E-ABC138D4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60B7F-A5BE-B9AC-7A22-4D4EFF40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47723-A61D-C931-6F74-CF00B5E1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2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8855-6C79-F496-6177-C24E761A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A7998-982E-795E-BDA4-86FEDDB86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C99F4-C067-4B59-4F6D-B6C0FECEC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48C23-C6DF-BB1A-8CFE-B3370635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40F68-FFE1-98B6-3A2B-1EB11C4D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1A9C7-1442-6EF8-52ED-01C80CED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4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218D-5C43-9AB2-28DC-1FE5F4D5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2ABAD-2D31-32BD-6030-4F77ED497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A001-42F8-56D1-5977-74CC2BCA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90DC8-1B85-4A97-077A-B8CE9A083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8A06A-8420-473C-B31A-8AFE0E04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061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D6F5C-B06F-4B40-FC4C-CDF5E3780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6785B-7A1D-756B-3189-73613238E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FF757-4BD1-4D5E-C0FB-24044B9B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6529-930B-0F71-E86C-FC8A2BA0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FF4E8-B260-BCE1-5460-EB836995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90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8E298-A98C-CED0-5028-E08D3869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97B2-9AD7-0609-4AB6-DF6F38F80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E407-485A-B062-882E-C2EE35128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0E22E-AAE8-4C38-8DAC-6426CE74D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83D0B-915D-7B6D-11D3-F34806AD9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D764C-86C4-5D5B-5F18-E21B2A44A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C266F-A621-4C49-8E05-8A2E37F91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57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>
            <a:extLst>
              <a:ext uri="{FF2B5EF4-FFF2-40B4-BE49-F238E27FC236}">
                <a16:creationId xmlns:a16="http://schemas.microsoft.com/office/drawing/2014/main" id="{FF28AA9C-3A71-4E50-682B-BC9D425EF30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14" y="422202"/>
            <a:ext cx="10700658" cy="1069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CEA76-BC34-3DD0-88C9-0CADC3C66AC7}"/>
              </a:ext>
            </a:extLst>
          </p:cNvPr>
          <p:cNvSpPr txBox="1"/>
          <p:nvPr/>
        </p:nvSpPr>
        <p:spPr>
          <a:xfrm>
            <a:off x="3918857" y="2329543"/>
            <a:ext cx="4909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9813E-FC21-C0B2-7F98-8AB4F706B774}"/>
              </a:ext>
            </a:extLst>
          </p:cNvPr>
          <p:cNvSpPr txBox="1"/>
          <p:nvPr/>
        </p:nvSpPr>
        <p:spPr>
          <a:xfrm>
            <a:off x="3026228" y="3198167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DSA0307- NATURAL LANGUAGE PROCESSING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2E2F2-531D-3FE0-B065-DD1A6AC318AD}"/>
              </a:ext>
            </a:extLst>
          </p:cNvPr>
          <p:cNvSpPr txBox="1"/>
          <p:nvPr/>
        </p:nvSpPr>
        <p:spPr>
          <a:xfrm>
            <a:off x="1083128" y="4582886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Charandeep.N.C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192472196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5EE7B-B0CB-A792-A5F3-0454D954EF7B}"/>
              </a:ext>
            </a:extLst>
          </p:cNvPr>
          <p:cNvSpPr txBox="1"/>
          <p:nvPr/>
        </p:nvSpPr>
        <p:spPr>
          <a:xfrm>
            <a:off x="8556170" y="4582886"/>
            <a:ext cx="2177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GUDIED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Dr.K.Anbazhagan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37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B8DC9F-F03E-8BCD-7E5F-CAC1B0A8CD2A}"/>
              </a:ext>
            </a:extLst>
          </p:cNvPr>
          <p:cNvSpPr txBox="1"/>
          <p:nvPr/>
        </p:nvSpPr>
        <p:spPr>
          <a:xfrm rot="10800000" flipH="1" flipV="1">
            <a:off x="2417695" y="751777"/>
            <a:ext cx="735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Derivational Morphology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FBBE6-66C7-B2E7-7C9A-ECA1919C57F7}"/>
              </a:ext>
            </a:extLst>
          </p:cNvPr>
          <p:cNvSpPr txBox="1"/>
          <p:nvPr/>
        </p:nvSpPr>
        <p:spPr>
          <a:xfrm>
            <a:off x="619432" y="1928462"/>
            <a:ext cx="10953136" cy="428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Derivational Morphology?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is the process of creating </a:t>
            </a: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words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by adding </a:t>
            </a: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prefixes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suffixes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a root word. The new word often has a different meaning or belongs to a different grammatical category.</a:t>
            </a: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 new words from existing words.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prefixes and suffixes.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change the meaning of a word.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change the part of speech (noun, verb, adjective, etc.).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Plays an important role in Natural Language Processing (NLP).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C385BF-1B0D-48DB-C85F-5C9263FF7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749930"/>
              </p:ext>
            </p:extLst>
          </p:nvPr>
        </p:nvGraphicFramePr>
        <p:xfrm>
          <a:off x="7030063" y="4066389"/>
          <a:ext cx="4542505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85097">
                  <a:extLst>
                    <a:ext uri="{9D8B030D-6E8A-4147-A177-3AD203B41FA5}">
                      <a16:colId xmlns:a16="http://schemas.microsoft.com/office/drawing/2014/main" val="1126352883"/>
                    </a:ext>
                  </a:extLst>
                </a:gridCol>
                <a:gridCol w="1585097">
                  <a:extLst>
                    <a:ext uri="{9D8B030D-6E8A-4147-A177-3AD203B41FA5}">
                      <a16:colId xmlns:a16="http://schemas.microsoft.com/office/drawing/2014/main" val="1821782156"/>
                    </a:ext>
                  </a:extLst>
                </a:gridCol>
                <a:gridCol w="1372311">
                  <a:extLst>
                    <a:ext uri="{9D8B030D-6E8A-4147-A177-3AD203B41FA5}">
                      <a16:colId xmlns:a16="http://schemas.microsoft.com/office/drawing/2014/main" val="4239564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Root Word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Derived Word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56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Happy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Unhappy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Prefix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81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Teach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Teacher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Suffix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865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National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Suffix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4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Reuse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Prefix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8112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3566902-3C9E-E941-0B8F-0537B4FFF9CB}"/>
              </a:ext>
            </a:extLst>
          </p:cNvPr>
          <p:cNvSpPr txBox="1"/>
          <p:nvPr/>
        </p:nvSpPr>
        <p:spPr>
          <a:xfrm>
            <a:off x="6931742" y="3697057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7A8583-772A-A187-B2B5-376C13F83E3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990" y="372722"/>
            <a:ext cx="1135117" cy="134288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0C2199-BE13-08EB-20F4-14DEBFF0E13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607" y="35340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754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8AEED7-6BCB-F836-38A0-0B471E8A0372}"/>
              </a:ext>
            </a:extLst>
          </p:cNvPr>
          <p:cNvSpPr txBox="1"/>
          <p:nvPr/>
        </p:nvSpPr>
        <p:spPr>
          <a:xfrm>
            <a:off x="3711677" y="297114"/>
            <a:ext cx="4768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Formation Process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D71C6-FFD8-EB7B-0847-497409A86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35" y="1143310"/>
            <a:ext cx="4729316" cy="5417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70BC98-5897-E74D-8835-6317E68D158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6534" y="297114"/>
            <a:ext cx="1135117" cy="134288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272738-6A00-5DF7-DA5D-6E167FAD4CE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352" y="297114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906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4721C6-7875-2846-9D21-07735EC61C78}"/>
              </a:ext>
            </a:extLst>
          </p:cNvPr>
          <p:cNvSpPr txBox="1"/>
          <p:nvPr/>
        </p:nvSpPr>
        <p:spPr>
          <a:xfrm>
            <a:off x="3406877" y="424934"/>
            <a:ext cx="5378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Derivational Affixes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AC81E7-D429-AE17-8439-E1A105E89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58553"/>
              </p:ext>
            </p:extLst>
          </p:nvPr>
        </p:nvGraphicFramePr>
        <p:xfrm>
          <a:off x="1730478" y="1966015"/>
          <a:ext cx="745285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4154">
                  <a:extLst>
                    <a:ext uri="{9D8B030D-6E8A-4147-A177-3AD203B41FA5}">
                      <a16:colId xmlns:a16="http://schemas.microsoft.com/office/drawing/2014/main" val="2546494039"/>
                    </a:ext>
                  </a:extLst>
                </a:gridCol>
                <a:gridCol w="2809349">
                  <a:extLst>
                    <a:ext uri="{9D8B030D-6E8A-4147-A177-3AD203B41FA5}">
                      <a16:colId xmlns:a16="http://schemas.microsoft.com/office/drawing/2014/main" val="2171211792"/>
                    </a:ext>
                  </a:extLst>
                </a:gridCol>
                <a:gridCol w="2809349">
                  <a:extLst>
                    <a:ext uri="{9D8B030D-6E8A-4147-A177-3AD203B41FA5}">
                      <a16:colId xmlns:a16="http://schemas.microsoft.com/office/drawing/2014/main" val="3762978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Prefix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 → Unhappy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15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→ Rewrite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204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Agree → Disagree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08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→ Preview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7517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81D3252-E7A3-1CCF-EDDA-0967D873B000}"/>
              </a:ext>
            </a:extLst>
          </p:cNvPr>
          <p:cNvSpPr txBox="1"/>
          <p:nvPr/>
        </p:nvSpPr>
        <p:spPr>
          <a:xfrm>
            <a:off x="1661652" y="14049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Prefixes (Added Before the Root)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7C133B-8DF1-D851-8AC4-5C57897C22CD}"/>
              </a:ext>
            </a:extLst>
          </p:cNvPr>
          <p:cNvSpPr txBox="1"/>
          <p:nvPr/>
        </p:nvSpPr>
        <p:spPr>
          <a:xfrm>
            <a:off x="1730478" y="39865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Suffixes (Added After the Root)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ECB7CF0-6ACA-9885-5295-6679DED4E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701700"/>
              </p:ext>
            </p:extLst>
          </p:nvPr>
        </p:nvGraphicFramePr>
        <p:xfrm>
          <a:off x="1779640" y="4538662"/>
          <a:ext cx="7403690" cy="1828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37662">
                  <a:extLst>
                    <a:ext uri="{9D8B030D-6E8A-4147-A177-3AD203B41FA5}">
                      <a16:colId xmlns:a16="http://schemas.microsoft.com/office/drawing/2014/main" val="3541452945"/>
                    </a:ext>
                  </a:extLst>
                </a:gridCol>
                <a:gridCol w="2683014">
                  <a:extLst>
                    <a:ext uri="{9D8B030D-6E8A-4147-A177-3AD203B41FA5}">
                      <a16:colId xmlns:a16="http://schemas.microsoft.com/office/drawing/2014/main" val="4074542616"/>
                    </a:ext>
                  </a:extLst>
                </a:gridCol>
                <a:gridCol w="2683014">
                  <a:extLst>
                    <a:ext uri="{9D8B030D-6E8A-4147-A177-3AD203B41FA5}">
                      <a16:colId xmlns:a16="http://schemas.microsoft.com/office/drawing/2014/main" val="3913145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Into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791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 → 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713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Kind → Kindness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5375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Hope → Hopeful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17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Adverb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→ Quickly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42656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7013214-AB59-01A9-5A89-D0BF3B23EFBC}"/>
              </a:ext>
            </a:extLst>
          </p:cNvPr>
          <p:cNvSpPr txBox="1"/>
          <p:nvPr/>
        </p:nvSpPr>
        <p:spPr>
          <a:xfrm>
            <a:off x="9523352" y="332346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+ Root + Suffix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+ Happy = Unhappy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+ er = Teacher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+ ness = Kindness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3D500E-82BC-B431-EF4D-DBC65CD63B7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6535" y="155008"/>
            <a:ext cx="1135117" cy="1342884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F11F0E-A58E-D6B4-2BE1-9C500BD15F1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351" y="15500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421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F5593-5B0C-9A55-E868-ED909DCB5188}"/>
              </a:ext>
            </a:extLst>
          </p:cNvPr>
          <p:cNvSpPr txBox="1"/>
          <p:nvPr/>
        </p:nvSpPr>
        <p:spPr>
          <a:xfrm>
            <a:off x="3916764" y="533791"/>
            <a:ext cx="4358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Vocabulary Expansion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D2674-0C38-C90D-6022-EF5089FAF45D}"/>
              </a:ext>
            </a:extLst>
          </p:cNvPr>
          <p:cNvSpPr txBox="1"/>
          <p:nvPr/>
        </p:nvSpPr>
        <p:spPr>
          <a:xfrm>
            <a:off x="1051728" y="1597071"/>
            <a:ext cx="10232571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Vocabulary Expansion?</a:t>
            </a:r>
          </a:p>
          <a:p>
            <a:pPr indent="0" algn="just"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Vocabulary Expansion is the process of increasing the number of words in a language by creating new words from existing root words. Derivational morphology is one of the most common methods used for vocabulary expansion</a:t>
            </a:r>
            <a:r>
              <a:rPr lang="en-IN" sz="1200" b="0" i="0" dirty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89314F-392A-4650-AC30-406E7B7DB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79986"/>
              </p:ext>
            </p:extLst>
          </p:nvPr>
        </p:nvGraphicFramePr>
        <p:xfrm>
          <a:off x="4360254" y="4657589"/>
          <a:ext cx="7636855" cy="14630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672314">
                  <a:extLst>
                    <a:ext uri="{9D8B030D-6E8A-4147-A177-3AD203B41FA5}">
                      <a16:colId xmlns:a16="http://schemas.microsoft.com/office/drawing/2014/main" val="180470558"/>
                    </a:ext>
                  </a:extLst>
                </a:gridCol>
                <a:gridCol w="3964541">
                  <a:extLst>
                    <a:ext uri="{9D8B030D-6E8A-4147-A177-3AD203B41FA5}">
                      <a16:colId xmlns:a16="http://schemas.microsoft.com/office/drawing/2014/main" val="4033835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Root Word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Expanded Vocabulary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41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Action, Active, Activity, Actor, Activate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64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Reader, Readable, Reading, Reread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567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Write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Writer, Rewrite, Writable, Writing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45789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8E94EB8-2EA1-A5DD-C299-87858ABA8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74" y="2938752"/>
            <a:ext cx="3224980" cy="33854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FB988A-6DE2-5CE2-1C2A-4B761399A090}"/>
              </a:ext>
            </a:extLst>
          </p:cNvPr>
          <p:cNvSpPr txBox="1"/>
          <p:nvPr/>
        </p:nvSpPr>
        <p:spPr>
          <a:xfrm>
            <a:off x="4271751" y="4236817"/>
            <a:ext cx="12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856FE4-F962-7179-6E09-F618653B52C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169" y="154736"/>
            <a:ext cx="1135117" cy="1342884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E72E2C-24AE-C0C6-FA8F-EB10BE1B481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717" y="15473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231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4FAF0-240C-2B8C-A60E-5C775E667459}"/>
              </a:ext>
            </a:extLst>
          </p:cNvPr>
          <p:cNvSpPr txBox="1"/>
          <p:nvPr/>
        </p:nvSpPr>
        <p:spPr>
          <a:xfrm>
            <a:off x="2062843" y="479363"/>
            <a:ext cx="8066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Vocabulary Expansion in NLP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C26F9-C88A-E5EE-6066-D58092F19184}"/>
              </a:ext>
            </a:extLst>
          </p:cNvPr>
          <p:cNvSpPr txBox="1"/>
          <p:nvPr/>
        </p:nvSpPr>
        <p:spPr>
          <a:xfrm>
            <a:off x="718457" y="1347899"/>
            <a:ext cx="4180114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Vocabulary Expansion Helps NLP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B2645-8AD7-003B-DE3E-B9071FE14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6" y="1709058"/>
            <a:ext cx="4180114" cy="5029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432100-39BB-C622-5CAC-5BF965B92688}"/>
              </a:ext>
            </a:extLst>
          </p:cNvPr>
          <p:cNvSpPr txBox="1"/>
          <p:nvPr/>
        </p:nvSpPr>
        <p:spPr>
          <a:xfrm>
            <a:off x="5976257" y="1230086"/>
            <a:ext cx="7620000" cy="411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Search Engines                                                   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Translation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&amp; Virtual Assistants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Spell Checking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 Summarization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Sentiment Analysis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Retrieval</a:t>
            </a:r>
          </a:p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C10B0-BA80-F109-58D7-0D91FB88093C}"/>
              </a:ext>
            </a:extLst>
          </p:cNvPr>
          <p:cNvSpPr txBox="1"/>
          <p:nvPr/>
        </p:nvSpPr>
        <p:spPr>
          <a:xfrm rot="10800000" flipH="1" flipV="1">
            <a:off x="5976257" y="4942228"/>
            <a:ext cx="64661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text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different forms of the same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search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between humans and computers.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9EDEB1-5BB5-28CD-8120-9E4702C31D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598" y="0"/>
            <a:ext cx="1135117" cy="1342884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72973A-C317-F47E-4266-1EA76FB700E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288" y="0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0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820BA-5D56-7FB7-E40D-308105885B15}"/>
              </a:ext>
            </a:extLst>
          </p:cNvPr>
          <p:cNvSpPr txBox="1"/>
          <p:nvPr/>
        </p:nvSpPr>
        <p:spPr>
          <a:xfrm>
            <a:off x="2775856" y="133789"/>
            <a:ext cx="6890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Advantages, Challenges &amp;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B1DAB-DC3C-6E52-0255-7A8295B591FF}"/>
              </a:ext>
            </a:extLst>
          </p:cNvPr>
          <p:cNvSpPr txBox="1"/>
          <p:nvPr/>
        </p:nvSpPr>
        <p:spPr>
          <a:xfrm>
            <a:off x="1570545" y="922623"/>
            <a:ext cx="10621455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Expands vocabulary quickly.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language learning.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accurate text analysis.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NLP systems understand word relationships.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performance of AI language models.</a:t>
            </a:r>
          </a:p>
          <a:p>
            <a:pPr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Irregular word formation.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Words with multiple meanings.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Language-specific grammatical rules.</a:t>
            </a:r>
          </a:p>
          <a:p>
            <a:pPr marL="171450" marR="0" indent="-1714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morphological structures.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creates new words by adding prefixes and suffixes.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newly formed words contribute to </a:t>
            </a: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Vocabulary Expansion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Vocabulary expansion enriches language and improves NLP applications such as search engines, machine translation, and chatbots.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make language processing more accurate and efficient.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CC5BB7-1105-E7BB-DB1E-0383D301DA1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7714" y="47122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029614-1CA0-D58A-25FD-D47F713D57F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950" y="9888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6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479</Words>
  <Application>Microsoft Office PowerPoint</Application>
  <PresentationFormat>Widescreen</PresentationFormat>
  <Paragraphs>117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-apple-system-body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nagotideep@gmail.com</dc:creator>
  <cp:lastModifiedBy>nagotideep@gmail.com</cp:lastModifiedBy>
  <cp:revision>1</cp:revision>
  <dcterms:created xsi:type="dcterms:W3CDTF">2026-07-24T15:40:14Z</dcterms:created>
  <dcterms:modified xsi:type="dcterms:W3CDTF">2026-07-24T16:32:59Z</dcterms:modified>
</cp:coreProperties>
</file>